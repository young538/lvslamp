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44" d="100"/>
          <a:sy n="144" d="100"/>
        </p:scale>
        <p:origin x="3060" y="3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926080"/>
            <a:ext cx="12191695" cy="54864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IMS-DS-16 조명 컨트롤러</a:t>
            </a:r>
            <a:br/>
            <a:r>
              <a:t>사용 설명서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CCCCCC"/>
                </a:solidFill>
              </a:defRPr>
            </a:pPr>
            <a:r>
              <a:t>LightController 프로그램 v1.0  |  주식회사 LVS IMS-DS-16 시리얼 통신 제어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CCCCC"/>
                </a:solidFill>
              </a:defRPr>
            </a:pPr>
            <a:r>
              <a:t>16채널 스트로브 컨트롤러 RS232 통신 프로그램</a:t>
            </a:r>
          </a:p>
        </p:txBody>
      </p:sp>
      <p:pic>
        <p:nvPicPr>
          <p:cNvPr id="6" name="Picture 5" descr="screenshot_ap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0" y="4389120"/>
            <a:ext cx="2174412" cy="21031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EC9B0"/>
                </a:solidFill>
              </a:defRPr>
            </a:pPr>
            <a:r>
              <a:t>목차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1887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EC9B0"/>
                </a:solidFill>
              </a:defRPr>
            </a:pPr>
            <a:r>
              <a:t>1.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11887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</a:defRPr>
            </a:pPr>
            <a:r>
              <a:t>프로그램 개요 및 시스템 요구사항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627632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EC9B0"/>
                </a:solidFill>
              </a:defRPr>
            </a:pPr>
            <a:r>
              <a:t>2.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162763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</a:defRPr>
            </a:pPr>
            <a:r>
              <a:t>프로그램 실행 및 화면 구성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066543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EC9B0"/>
                </a:solidFill>
              </a:defRPr>
            </a:pPr>
            <a:r>
              <a:t>3.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2066543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</a:defRPr>
            </a:pPr>
            <a:r>
              <a:t>시리얼 포트 연결 / 자동 찾기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505456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EC9B0"/>
                </a:solidFill>
              </a:defRPr>
            </a:pPr>
            <a:r>
              <a:t>4.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2505456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</a:defRPr>
            </a:pPr>
            <a:r>
              <a:t>명령 모드 (DS-16 확장 / LS-12 호환)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944368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EC9B0"/>
                </a:solidFill>
              </a:defRPr>
            </a:pPr>
            <a:r>
              <a:t>5.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294436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</a:defRPr>
            </a:pPr>
            <a:r>
              <a:t>채널 ON TIME 설정 및 전송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3832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EC9B0"/>
                </a:solidFill>
              </a:defRPr>
            </a:pPr>
            <a:r>
              <a:t>6.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33832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</a:defRPr>
            </a:pPr>
            <a:r>
              <a:t>배수(Multiplier) 설정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822191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EC9B0"/>
                </a:solidFill>
              </a:defRPr>
            </a:pPr>
            <a:r>
              <a:t>7.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3822191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</a:defRPr>
            </a:pPr>
            <a:r>
              <a:t>데이터 저장 / 데이터 확인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261104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EC9B0"/>
                </a:solidFill>
              </a:defRPr>
            </a:pPr>
            <a:r>
              <a:t>8.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0" y="4261104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</a:defRPr>
            </a:pPr>
            <a:r>
              <a:t>순차 페이지 제어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700016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EC9B0"/>
                </a:solidFill>
              </a:defRPr>
            </a:pPr>
            <a:r>
              <a:t>9.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0" y="4700016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</a:defRPr>
            </a:pPr>
            <a:r>
              <a:t>Page Section / 트리거 Skip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5138928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EC9B0"/>
                </a:solidFill>
              </a:defRPr>
            </a:pPr>
            <a:r>
              <a:t>10.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0" y="513892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</a:defRPr>
            </a:pPr>
            <a:r>
              <a:t>통신 로그 활용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557784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EC9B0"/>
                </a:solidFill>
              </a:defRPr>
            </a:pPr>
            <a:r>
              <a:t>11.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1680" y="55778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</a:defRPr>
            </a:pPr>
            <a:r>
              <a:t>주의사항 및 문제 해결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4EC9B0"/>
                </a:solidFill>
              </a:defRPr>
            </a:pPr>
            <a: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프로그램 개요 및 시스템 요구사항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4023360"/>
            <a:ext cx="2103120" cy="4572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EC9B0"/>
                </a:solidFill>
              </a:defRPr>
            </a:pPr>
            <a:r>
              <a:t>1. 프로그램 개요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5486400" cy="2560320"/>
          </a:xfrm>
          <a:prstGeom prst="roundRect">
            <a:avLst/>
          </a:prstGeom>
          <a:solidFill>
            <a:srgbClr val="2A2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49377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EC9B0"/>
                </a:solidFill>
              </a:defRPr>
            </a:pPr>
            <a:r>
              <a:t>프로그램 목적</a:t>
            </a:r>
          </a:p>
          <a:p>
            <a:pPr>
              <a:defRPr sz="1600" b="0">
                <a:solidFill>
                  <a:srgbClr val="CCCCCC"/>
                </a:solidFill>
              </a:defRPr>
            </a:pPr>
            <a:endParaRPr/>
          </a:p>
          <a:p>
            <a:pPr>
              <a:defRPr sz="1700" b="0">
                <a:solidFill>
                  <a:srgbClr val="FFFFFF"/>
                </a:solidFill>
              </a:defRPr>
            </a:pPr>
            <a:r>
              <a:t>IMS-DS-16 (16채널 스트로브 컨트롤러)을</a:t>
            </a:r>
          </a:p>
          <a:p>
            <a:pPr>
              <a:defRPr sz="1700" b="0">
                <a:solidFill>
                  <a:srgbClr val="FFFFFF"/>
                </a:solidFill>
              </a:defRPr>
            </a:pPr>
            <a:r>
              <a:t>PC에서 RS232 시리얼 통신으로 제어하는</a:t>
            </a:r>
          </a:p>
          <a:p>
            <a:pPr>
              <a:defRPr sz="1700" b="0">
                <a:solidFill>
                  <a:srgbClr val="FFFFFF"/>
                </a:solidFill>
              </a:defRPr>
            </a:pPr>
            <a:r>
              <a:t>Windows 데스크톱 애플리케이션</a:t>
            </a:r>
          </a:p>
          <a:p>
            <a:pPr>
              <a:defRPr sz="1600" b="0">
                <a:solidFill>
                  <a:srgbClr val="CCCCCC"/>
                </a:solidFill>
              </a:defRPr>
            </a:pPr>
            <a:endParaRPr/>
          </a:p>
          <a:p>
            <a:pPr>
              <a:defRPr sz="1600" b="0">
                <a:solidFill>
                  <a:srgbClr val="CCCCCC"/>
                </a:solidFill>
              </a:defRPr>
            </a:pPr>
            <a:r>
              <a:t>• 16채널 ON TIME 개별 설정 및 전송</a:t>
            </a:r>
          </a:p>
          <a:p>
            <a:pPr>
              <a:defRPr sz="1600" b="0">
                <a:solidFill>
                  <a:srgbClr val="CCCCCC"/>
                </a:solidFill>
              </a:defRPr>
            </a:pPr>
            <a:r>
              <a:t>• 99페이지 데이터 관리</a:t>
            </a:r>
          </a:p>
          <a:p>
            <a:pPr>
              <a:defRPr sz="1600" b="0">
                <a:solidFill>
                  <a:srgbClr val="CCCCCC"/>
                </a:solidFill>
              </a:defRPr>
            </a:pPr>
            <a:r>
              <a:t>• 순차 페이지 / Section / Skip 제어</a:t>
            </a:r>
          </a:p>
          <a:p>
            <a:pPr>
              <a:defRPr sz="1600" b="0">
                <a:solidFill>
                  <a:srgbClr val="CCCCCC"/>
                </a:solidFill>
              </a:defRPr>
            </a:pPr>
            <a:r>
              <a:t>• COM 포트 자동 검색 기능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097280"/>
            <a:ext cx="5486400" cy="2560320"/>
          </a:xfrm>
          <a:prstGeom prst="roundRect">
            <a:avLst/>
          </a:prstGeom>
          <a:solidFill>
            <a:srgbClr val="2A2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92240" y="1280160"/>
            <a:ext cx="49377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EC9B0"/>
                </a:solidFill>
              </a:defRPr>
            </a:pPr>
            <a:r>
              <a:t>시스템 요구사항</a:t>
            </a:r>
          </a:p>
          <a:p>
            <a:pPr>
              <a:defRPr sz="1600" b="0">
                <a:solidFill>
                  <a:srgbClr val="CCCCCC"/>
                </a:solidFill>
              </a:defRPr>
            </a:pPr>
            <a:endParaRPr/>
          </a:p>
          <a:p>
            <a:pPr>
              <a:defRPr sz="1600" b="0">
                <a:solidFill>
                  <a:srgbClr val="CCCCCC"/>
                </a:solidFill>
              </a:defRPr>
            </a:pPr>
            <a:r>
              <a:t>• OS: Windows 10 / 11 (64bit)</a:t>
            </a:r>
          </a:p>
          <a:p>
            <a:pPr>
              <a:defRPr sz="1600" b="0">
                <a:solidFill>
                  <a:srgbClr val="CCCCCC"/>
                </a:solidFill>
              </a:defRPr>
            </a:pPr>
            <a:r>
              <a:t>• RS232 시리얼 포트 또는 USB-to-Serial 변환기</a:t>
            </a:r>
          </a:p>
          <a:p>
            <a:pPr>
              <a:defRPr sz="1600" b="0">
                <a:solidFill>
                  <a:srgbClr val="CCCCCC"/>
                </a:solidFill>
              </a:defRPr>
            </a:pPr>
            <a:r>
              <a:t>• IMS-DS-16 장비 + RS232 케이블</a:t>
            </a:r>
          </a:p>
          <a:p>
            <a:pPr>
              <a:defRPr sz="1600" b="0">
                <a:solidFill>
                  <a:srgbClr val="CCCCCC"/>
                </a:solidFill>
              </a:defRPr>
            </a:pPr>
            <a:r>
              <a:t>• BCGControlBar Pro 런타임 DLL (동봉)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931920"/>
            <a:ext cx="11247120" cy="2286000"/>
          </a:xfrm>
          <a:prstGeom prst="roundRect">
            <a:avLst/>
          </a:prstGeom>
          <a:solidFill>
            <a:srgbClr val="2A2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4114800"/>
            <a:ext cx="106984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EC9B0"/>
                </a:solidFill>
              </a:defRPr>
            </a:pPr>
            <a:r>
              <a:t>통신 사양</a:t>
            </a:r>
          </a:p>
          <a:p>
            <a:pPr>
              <a:defRPr sz="1600" b="0">
                <a:solidFill>
                  <a:srgbClr val="CCCCCC"/>
                </a:solidFill>
              </a:defRPr>
            </a:pPr>
            <a:endParaRPr/>
          </a:p>
          <a:p>
            <a:pPr>
              <a:defRPr sz="1600" b="0">
                <a:solidFill>
                  <a:srgbClr val="FFFFFF"/>
                </a:solidFill>
              </a:defRPr>
            </a:pPr>
            <a:r>
              <a:t>    Baud Rate         19,200 bps</a:t>
            </a:r>
          </a:p>
          <a:p>
            <a:pPr>
              <a:defRPr sz="1600" b="0">
                <a:solidFill>
                  <a:srgbClr val="FFFFFF"/>
                </a:solidFill>
              </a:defRPr>
            </a:pPr>
            <a:r>
              <a:t>    Data Bit          8 bit</a:t>
            </a:r>
          </a:p>
          <a:p>
            <a:pPr>
              <a:defRPr sz="1600" b="0">
                <a:solidFill>
                  <a:srgbClr val="FFFFFF"/>
                </a:solidFill>
              </a:defRPr>
            </a:pPr>
            <a:r>
              <a:t>    Parity            Even  ← 반드시 Even 설정! (가장 흔한 통신 불량 원인)</a:t>
            </a:r>
          </a:p>
          <a:p>
            <a:pPr>
              <a:defRPr sz="1600" b="0">
                <a:solidFill>
                  <a:srgbClr val="FFFFFF"/>
                </a:solidFill>
              </a:defRPr>
            </a:pPr>
            <a:r>
              <a:t>    Stop Bit          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4EC9B0"/>
                </a:solidFill>
              </a:defRPr>
            </a:pPr>
            <a: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프로그램 실행 및 화면 구성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4023360"/>
            <a:ext cx="2103120" cy="4572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EC9B0"/>
                </a:solidFill>
              </a:defRPr>
            </a:pPr>
            <a:r>
              <a:t>2. 화면 구성 — 실제 프로그램 화면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75120" y="1051560"/>
            <a:ext cx="5212080" cy="841248"/>
          </a:xfrm>
          <a:prstGeom prst="roundRect">
            <a:avLst/>
          </a:prstGeom>
          <a:solidFill>
            <a:srgbClr val="2A2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0" y="109728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EC9B0"/>
                </a:solidFill>
              </a:defRPr>
            </a:pPr>
            <a:r>
              <a:t>① 시리얼 포트</a:t>
            </a:r>
          </a:p>
          <a:p>
            <a:pPr>
              <a:defRPr sz="1300" b="0">
                <a:solidFill>
                  <a:srgbClr val="CCCCCC"/>
                </a:solidFill>
              </a:defRPr>
            </a:pPr>
            <a:r>
              <a:t>COM 포트 선택, 연결/해제</a:t>
            </a:r>
          </a:p>
          <a:p>
            <a:pPr>
              <a:defRPr sz="1300" b="0">
                <a:solidFill>
                  <a:srgbClr val="CCCCCC"/>
                </a:solidFill>
              </a:defRPr>
            </a:pPr>
            <a:r>
              <a:t>자동찾기, 연결 상태 표시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0" y="1984248"/>
            <a:ext cx="5212080" cy="841248"/>
          </a:xfrm>
          <a:prstGeom prst="roundRect">
            <a:avLst/>
          </a:prstGeom>
          <a:solidFill>
            <a:srgbClr val="2A2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0" y="2029967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569CD6"/>
                </a:solidFill>
              </a:defRPr>
            </a:pPr>
            <a:r>
              <a:t>② 페이지/채널 설정</a:t>
            </a:r>
          </a:p>
          <a:p>
            <a:pPr>
              <a:defRPr sz="1300" b="0">
                <a:solidFill>
                  <a:srgbClr val="CCCCCC"/>
                </a:solidFill>
              </a:defRPr>
            </a:pPr>
            <a:r>
              <a:t>DS-16/LS-12 모드 선택</a:t>
            </a:r>
          </a:p>
          <a:p>
            <a:pPr>
              <a:defRPr sz="1300" b="0">
                <a:solidFill>
                  <a:srgbClr val="CCCCCC"/>
                </a:solidFill>
              </a:defRPr>
            </a:pPr>
            <a:r>
              <a:t>Max Page, Page, 반복 횟수</a:t>
            </a:r>
          </a:p>
          <a:p>
            <a:pPr>
              <a:defRPr sz="1300" b="0">
                <a:solidFill>
                  <a:srgbClr val="CCCCCC"/>
                </a:solidFill>
              </a:defRPr>
            </a:pPr>
            <a:r>
              <a:t>16채널 ON TIME + 배수</a:t>
            </a:r>
          </a:p>
          <a:p>
            <a:pPr>
              <a:defRPr sz="1300" b="0">
                <a:solidFill>
                  <a:srgbClr val="CCCCCC"/>
                </a:solidFill>
              </a:defRPr>
            </a:pPr>
            <a:r>
              <a:t>일괄 적용 기능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2916936"/>
            <a:ext cx="5212080" cy="841248"/>
          </a:xfrm>
          <a:prstGeom prst="roundRect">
            <a:avLst/>
          </a:prstGeom>
          <a:solidFill>
            <a:srgbClr val="2A2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0" y="2962656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CDCAA"/>
                </a:solidFill>
              </a:defRPr>
            </a:pPr>
            <a:r>
              <a:t>③ 액션 버튼</a:t>
            </a:r>
          </a:p>
          <a:p>
            <a:pPr>
              <a:defRPr sz="1300" b="0">
                <a:solidFill>
                  <a:srgbClr val="CCCCCC"/>
                </a:solidFill>
              </a:defRPr>
            </a:pPr>
            <a:r>
              <a:t>전체 전송 / 배수 설정</a:t>
            </a:r>
          </a:p>
          <a:p>
            <a:pPr>
              <a:defRPr sz="1300" b="0">
                <a:solidFill>
                  <a:srgbClr val="CCCCCC"/>
                </a:solidFill>
              </a:defRPr>
            </a:pPr>
            <a:r>
              <a:t>데이터 저장 / 확인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75120" y="3849624"/>
            <a:ext cx="5212080" cy="841248"/>
          </a:xfrm>
          <a:prstGeom prst="roundRect">
            <a:avLst/>
          </a:prstGeom>
          <a:solidFill>
            <a:srgbClr val="2A2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58000" y="3895344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586C0"/>
                </a:solidFill>
              </a:defRPr>
            </a:pPr>
            <a:r>
              <a:t>④ 순차 페이지 제어</a:t>
            </a:r>
          </a:p>
          <a:p>
            <a:pPr>
              <a:defRPr sz="1300" b="0">
                <a:solidFill>
                  <a:srgbClr val="CCCCCC"/>
                </a:solidFill>
              </a:defRPr>
            </a:pPr>
            <a:r>
              <a:t>트리거 / 리셋 / 현재페이지</a:t>
            </a:r>
          </a:p>
          <a:p>
            <a:pPr>
              <a:defRPr sz="1300" b="0">
                <a:solidFill>
                  <a:srgbClr val="CCCCCC"/>
                </a:solidFill>
              </a:defRPr>
            </a:pPr>
            <a:r>
              <a:t>시작Page, HOLD, Section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75120" y="4782312"/>
            <a:ext cx="5212080" cy="841248"/>
          </a:xfrm>
          <a:prstGeom prst="roundRect">
            <a:avLst/>
          </a:prstGeom>
          <a:solidFill>
            <a:srgbClr val="2A2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58000" y="4828032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E9178"/>
                </a:solidFill>
              </a:defRPr>
            </a:pPr>
            <a:r>
              <a:t>⑤ 트리거 Skip</a:t>
            </a:r>
          </a:p>
          <a:p>
            <a:pPr>
              <a:defRPr sz="1300" b="0">
                <a:solidFill>
                  <a:srgbClr val="CCCCCC"/>
                </a:solidFill>
              </a:defRPr>
            </a:pPr>
            <a:r>
              <a:t>Skip ON/OFF</a:t>
            </a:r>
          </a:p>
          <a:p>
            <a:pPr>
              <a:defRPr sz="1300" b="0">
                <a:solidFill>
                  <a:srgbClr val="CCCCCC"/>
                </a:solidFill>
              </a:defRPr>
            </a:pPr>
            <a:r>
              <a:t>Skip Time (ms)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75120" y="5715000"/>
            <a:ext cx="5212080" cy="841248"/>
          </a:xfrm>
          <a:prstGeom prst="roundRect">
            <a:avLst/>
          </a:prstGeom>
          <a:solidFill>
            <a:srgbClr val="2A2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58000" y="576072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A9955"/>
                </a:solidFill>
              </a:defRPr>
            </a:pPr>
            <a:r>
              <a:t>⑥ 통신 로그</a:t>
            </a:r>
          </a:p>
          <a:p>
            <a:pPr>
              <a:defRPr sz="1300" b="0">
                <a:solidFill>
                  <a:srgbClr val="CCCCCC"/>
                </a:solidFill>
              </a:defRPr>
            </a:pPr>
            <a:r>
              <a:t>TX/RX/SYS 실시간 로그</a:t>
            </a:r>
          </a:p>
          <a:p>
            <a:pPr>
              <a:defRPr sz="1300" b="0">
                <a:solidFill>
                  <a:srgbClr val="CCCCCC"/>
                </a:solidFill>
              </a:defRPr>
            </a:pPr>
            <a:r>
              <a:t>타임스탬프 포함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80A1DE8B-8952-40ED-627A-D56586C4D5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938" y="1371600"/>
            <a:ext cx="4773526" cy="459181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EC9B0"/>
                </a:solidFill>
              </a:defRPr>
            </a:pPr>
            <a:r>
              <a:t>2. 화면 구성 — 영역별 상세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5486400" cy="1280160"/>
          </a:xfrm>
          <a:prstGeom prst="roundRect">
            <a:avLst/>
          </a:prstGeom>
          <a:solidFill>
            <a:srgbClr val="2A2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170432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4EC9B0"/>
                </a:solidFill>
              </a:defRPr>
            </a:pPr>
            <a:r>
              <a:t>① 시리얼 포트 영역</a:t>
            </a:r>
          </a:p>
          <a:p>
            <a:pPr>
              <a:defRPr sz="1300" b="0">
                <a:solidFill>
                  <a:srgbClr val="CCCCCC"/>
                </a:solidFill>
              </a:defRPr>
            </a:pPr>
            <a:r>
              <a:t>• COM: 시스템에서 인식된 COM 포트 목록 (드롭다운)</a:t>
            </a:r>
          </a:p>
          <a:p>
            <a:pPr>
              <a:defRPr sz="1300" b="0">
                <a:solidFill>
                  <a:srgbClr val="CCCCCC"/>
                </a:solidFill>
              </a:defRPr>
            </a:pPr>
            <a:r>
              <a:t>• [연결]: 선택한 포트로 통신 연결 (19200, 8, Even, 1)</a:t>
            </a:r>
          </a:p>
          <a:p>
            <a:pPr>
              <a:defRPr sz="1300" b="0">
                <a:solidFill>
                  <a:srgbClr val="CCCCCC"/>
                </a:solidFill>
              </a:defRPr>
            </a:pPr>
            <a:r>
              <a:t>• [해제]: 현재 연결 해제</a:t>
            </a:r>
          </a:p>
          <a:p>
            <a:pPr>
              <a:defRPr sz="1300" b="0">
                <a:solidFill>
                  <a:srgbClr val="CCCCCC"/>
                </a:solidFill>
              </a:defRPr>
            </a:pPr>
            <a:r>
              <a:t>• [검색]: COM 포트 목록 새로고침</a:t>
            </a:r>
          </a:p>
          <a:p>
            <a:pPr>
              <a:defRPr sz="1300" b="0">
                <a:solidFill>
                  <a:srgbClr val="CCCCCC"/>
                </a:solidFill>
              </a:defRPr>
            </a:pPr>
            <a:r>
              <a:t>• [자동찾기]: 모든 포트를 순회하여 IMS-DS-16 장비 자동 검색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097280"/>
            <a:ext cx="5486400" cy="1280160"/>
          </a:xfrm>
          <a:prstGeom prst="roundRect">
            <a:avLst/>
          </a:prstGeom>
          <a:solidFill>
            <a:srgbClr val="2A2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0" y="1170432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DCDCAA"/>
                </a:solidFill>
              </a:defRPr>
            </a:pPr>
            <a:r>
              <a:t>③ 액션 버튼 영역</a:t>
            </a:r>
          </a:p>
          <a:p>
            <a:pPr>
              <a:defRPr sz="1300" b="0">
                <a:solidFill>
                  <a:srgbClr val="CCCCCC"/>
                </a:solidFill>
              </a:defRPr>
            </a:pPr>
            <a:r>
              <a:t>• [전체 전송]: 16채널 ON TIME 값을 장비에 전송</a:t>
            </a:r>
          </a:p>
          <a:p>
            <a:pPr>
              <a:defRPr sz="1300" b="0">
                <a:solidFill>
                  <a:srgbClr val="CCCCCC"/>
                </a:solidFill>
              </a:defRPr>
            </a:pPr>
            <a:r>
              <a:t>• [배수 설정]: 16채널 배수(1~5) 값을 장비에 전송</a:t>
            </a:r>
          </a:p>
          <a:p>
            <a:pPr>
              <a:defRPr sz="1300" b="0">
                <a:solidFill>
                  <a:srgbClr val="CCCCCC"/>
                </a:solidFill>
              </a:defRPr>
            </a:pPr>
            <a:r>
              <a:t>• [데이터 저장]: 장비 플래시 메모리에 영구 저장</a:t>
            </a:r>
          </a:p>
          <a:p>
            <a:pPr>
              <a:defRPr sz="1300" b="0">
                <a:solidFill>
                  <a:srgbClr val="CCCCCC"/>
                </a:solidFill>
              </a:defRPr>
            </a:pPr>
            <a:r>
              <a:t>• [데이터 확인]: 장비에 저장된 값 조회</a:t>
            </a:r>
          </a:p>
          <a:p>
            <a:pPr>
              <a:defRPr sz="1300" b="0">
                <a:solidFill>
                  <a:srgbClr val="CCCCCC"/>
                </a:solidFill>
              </a:defRPr>
            </a:pPr>
            <a:r>
              <a:t>• [배수 확인]: 현재 배수 설정 값 조회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560320"/>
            <a:ext cx="5486400" cy="2011680"/>
          </a:xfrm>
          <a:prstGeom prst="roundRect">
            <a:avLst/>
          </a:prstGeom>
          <a:solidFill>
            <a:srgbClr val="2A2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2633472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569CD6"/>
                </a:solidFill>
              </a:defRPr>
            </a:pPr>
            <a:r>
              <a:t>② 채널 설정 영역</a:t>
            </a:r>
          </a:p>
          <a:p>
            <a:pPr>
              <a:defRPr sz="1300" b="0">
                <a:solidFill>
                  <a:srgbClr val="CCCCCC"/>
                </a:solidFill>
              </a:defRPr>
            </a:pPr>
            <a:r>
              <a:t>• 명령 모드: DS-16 확장 / LS-12 호환 라디오 버튼</a:t>
            </a:r>
          </a:p>
          <a:p>
            <a:pPr>
              <a:defRPr sz="1300" b="0">
                <a:solidFill>
                  <a:srgbClr val="CCCCCC"/>
                </a:solidFill>
              </a:defRPr>
            </a:pPr>
            <a:r>
              <a:t>• Max Page: 순차 페이지 최대 범위 (1~99)</a:t>
            </a:r>
          </a:p>
          <a:p>
            <a:pPr>
              <a:defRPr sz="1300" b="0">
                <a:solidFill>
                  <a:srgbClr val="CCCCCC"/>
                </a:solidFill>
              </a:defRPr>
            </a:pPr>
            <a:r>
              <a:t>• Page: 현재 설정 대상 페이지 (0~98)</a:t>
            </a:r>
          </a:p>
          <a:p>
            <a:pPr>
              <a:defRPr sz="1300" b="0">
                <a:solidFill>
                  <a:srgbClr val="CCCCCC"/>
                </a:solidFill>
              </a:defRPr>
            </a:pPr>
            <a:r>
              <a:t>• 반복: 1회 트리거 시 스트로브 반복 횟수 (1~9)</a:t>
            </a:r>
          </a:p>
          <a:p>
            <a:pPr>
              <a:defRPr sz="1300" b="0">
                <a:solidFill>
                  <a:srgbClr val="CCCCCC"/>
                </a:solidFill>
              </a:defRPr>
            </a:pPr>
            <a:r>
              <a:t>• CH01~CH16: 각 채널의 ON TIME (0~999us)</a:t>
            </a:r>
          </a:p>
          <a:p>
            <a:pPr>
              <a:defRPr sz="1300" b="0">
                <a:solidFill>
                  <a:srgbClr val="CCCCCC"/>
                </a:solidFill>
              </a:defRPr>
            </a:pPr>
            <a:r>
              <a:t>• 배수 콤보: 각 채널별 배율 (1~5배)</a:t>
            </a:r>
          </a:p>
          <a:p>
            <a:pPr>
              <a:defRPr sz="1300" b="0">
                <a:solidFill>
                  <a:srgbClr val="CCCCCC"/>
                </a:solidFill>
              </a:defRPr>
            </a:pPr>
            <a:r>
              <a:t>• All ON TIME + [일괄적용]: 전 채널 동일 값 설정</a:t>
            </a:r>
          </a:p>
          <a:p>
            <a:pPr>
              <a:defRPr sz="1300" b="0">
                <a:solidFill>
                  <a:srgbClr val="CCCCCC"/>
                </a:solidFill>
              </a:defRPr>
            </a:pPr>
            <a:r>
              <a:t>• All 배수 + [일괄적용]: 전 채널 동일 배수 설정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560320"/>
            <a:ext cx="5486400" cy="2011680"/>
          </a:xfrm>
          <a:prstGeom prst="roundRect">
            <a:avLst/>
          </a:prstGeom>
          <a:solidFill>
            <a:srgbClr val="2A2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2633472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C586C0"/>
                </a:solidFill>
              </a:defRPr>
            </a:pPr>
            <a:r>
              <a:t>④⑤ 페이지 제어 / Skip</a:t>
            </a:r>
          </a:p>
          <a:p>
            <a:pPr>
              <a:defRPr sz="1300" b="0">
                <a:solidFill>
                  <a:srgbClr val="CCCCCC"/>
                </a:solidFill>
              </a:defRPr>
            </a:pPr>
            <a:r>
              <a:t>순차 페이지 제어:</a:t>
            </a:r>
          </a:p>
          <a:p>
            <a:pPr>
              <a:defRPr sz="1300" b="0">
                <a:solidFill>
                  <a:srgbClr val="CCCCCC"/>
                </a:solidFill>
              </a:defRPr>
            </a:pPr>
            <a:r>
              <a:t>• [트리거]: 다음 페이지 출력 (테스트용)</a:t>
            </a:r>
          </a:p>
          <a:p>
            <a:pPr>
              <a:defRPr sz="1300" b="0">
                <a:solidFill>
                  <a:srgbClr val="CCCCCC"/>
                </a:solidFill>
              </a:defRPr>
            </a:pPr>
            <a:r>
              <a:t>• [리셋]: 첫번째 페이지로 되돌림</a:t>
            </a:r>
          </a:p>
          <a:p>
            <a:pPr>
              <a:defRPr sz="1300" b="0">
                <a:solidFill>
                  <a:srgbClr val="CCCCCC"/>
                </a:solidFill>
              </a:defRPr>
            </a:pPr>
            <a:r>
              <a:t>• [현재페이지]: 현재 출력 중인 페이지 조회</a:t>
            </a:r>
          </a:p>
          <a:p>
            <a:pPr>
              <a:defRPr sz="1300" b="0">
                <a:solidFill>
                  <a:srgbClr val="CCCCCC"/>
                </a:solidFill>
              </a:defRPr>
            </a:pPr>
            <a:r>
              <a:t>• 시작 Page + [설정]: 순차 시작점 지정</a:t>
            </a:r>
          </a:p>
          <a:p>
            <a:pPr>
              <a:defRPr sz="1300" b="0">
                <a:solidFill>
                  <a:srgbClr val="CCCCCC"/>
                </a:solidFill>
              </a:defRPr>
            </a:pPr>
            <a:r>
              <a:t>• HOLD + [설정]: 특정 페이지만 반복 출력</a:t>
            </a:r>
          </a:p>
          <a:p>
            <a:pPr>
              <a:defRPr sz="1300" b="0">
                <a:solidFill>
                  <a:srgbClr val="CCCCCC"/>
                </a:solidFill>
              </a:defRPr>
            </a:pPr>
            <a:r>
              <a:t>• Section: 시작~끝 범위만 순차 출력</a:t>
            </a:r>
          </a:p>
          <a:p>
            <a:pPr>
              <a:defRPr sz="1300" b="0">
                <a:solidFill>
                  <a:srgbClr val="CCCCCC"/>
                </a:solidFill>
              </a:defRPr>
            </a:pPr>
            <a:endParaRPr/>
          </a:p>
          <a:p>
            <a:pPr>
              <a:defRPr sz="1300" b="0">
                <a:solidFill>
                  <a:srgbClr val="CCCCCC"/>
                </a:solidFill>
              </a:defRPr>
            </a:pPr>
            <a:r>
              <a:t>트리거 Skip:</a:t>
            </a:r>
          </a:p>
          <a:p>
            <a:pPr>
              <a:defRPr sz="1300" b="0">
                <a:solidFill>
                  <a:srgbClr val="CCCCCC"/>
                </a:solidFill>
              </a:defRPr>
            </a:pPr>
            <a:r>
              <a:t>• Skip 체크 + Time + [설정]: 노이즈 방지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754880"/>
            <a:ext cx="11247120" cy="1463040"/>
          </a:xfrm>
          <a:prstGeom prst="roundRect">
            <a:avLst/>
          </a:prstGeom>
          <a:solidFill>
            <a:srgbClr val="2A2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4828032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6A9955"/>
                </a:solidFill>
              </a:defRPr>
            </a:pPr>
            <a:r>
              <a:t>⑥ 통신 로그 영역</a:t>
            </a:r>
          </a:p>
          <a:p>
            <a:pPr>
              <a:defRPr sz="1300" b="0">
                <a:solidFill>
                  <a:srgbClr val="CCCCCC"/>
                </a:solidFill>
              </a:defRPr>
            </a:pPr>
            <a:r>
              <a:t>• 모든 송수신 데이터가 타임스탬프와 함께 실시간 표시됩니다.</a:t>
            </a:r>
          </a:p>
          <a:p>
            <a:pPr>
              <a:defRPr sz="1300" b="0">
                <a:solidFill>
                  <a:srgbClr val="CCCCCC"/>
                </a:solidFill>
              </a:defRPr>
            </a:pPr>
            <a:r>
              <a:t>• [TX] 태그: 프로그램에서 장비로 전송한 명령어</a:t>
            </a:r>
          </a:p>
          <a:p>
            <a:pPr>
              <a:defRPr sz="1300" b="0">
                <a:solidFill>
                  <a:srgbClr val="CCCCCC"/>
                </a:solidFill>
              </a:defRPr>
            </a:pPr>
            <a:r>
              <a:t>• [RX] ACK (0x06): 장비가 명령을 정상 처리함</a:t>
            </a:r>
          </a:p>
          <a:p>
            <a:pPr>
              <a:defRPr sz="1300" b="0">
                <a:solidFill>
                  <a:srgbClr val="CCCCCC"/>
                </a:solidFill>
              </a:defRPr>
            </a:pPr>
            <a:r>
              <a:t>• [RX] NAK (0x15): 비정상 프로토콜 수신 (명령어 확인 필요)</a:t>
            </a:r>
          </a:p>
          <a:p>
            <a:pPr>
              <a:defRPr sz="1300" b="0">
                <a:solidFill>
                  <a:srgbClr val="CCCCCC"/>
                </a:solidFill>
              </a:defRPr>
            </a:pPr>
            <a:r>
              <a:t>• [SYS] 태그: 연결/해제/자동찾기 등 시스템 메시지</a:t>
            </a:r>
          </a:p>
          <a:p>
            <a:pPr>
              <a:defRPr sz="1300" b="0">
                <a:solidFill>
                  <a:srgbClr val="CCCCCC"/>
                </a:solidFill>
              </a:defRPr>
            </a:pPr>
            <a:r>
              <a:t>• [지우기] 버튼: 로그 영역 초기화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4EC9B0"/>
                </a:solidFill>
              </a:defRPr>
            </a:pPr>
            <a: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시리얼 포트 연결 / 자동 찾기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4023360"/>
            <a:ext cx="2103120" cy="4572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EC9B0"/>
                </a:solidFill>
              </a:defRPr>
            </a:pPr>
            <a:r>
              <a:t>3-1. 수동 연결 방법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11247120" cy="1645920"/>
          </a:xfrm>
          <a:prstGeom prst="roundRect">
            <a:avLst/>
          </a:prstGeom>
          <a:solidFill>
            <a:srgbClr val="2A2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EC9B0"/>
                </a:solidFill>
              </a:defRPr>
            </a:pPr>
            <a:r>
              <a:t>Step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1188720"/>
            <a:ext cx="9326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COM 포트 선택</a:t>
            </a:r>
          </a:p>
          <a:p>
            <a:pPr>
              <a:defRPr sz="1500" b="0">
                <a:solidFill>
                  <a:srgbClr val="CCCCCC"/>
                </a:solidFill>
              </a:defRPr>
            </a:pPr>
            <a:r>
              <a:t>COM 포트 콤보박스에서 연결할 포트를 선택합니다.</a:t>
            </a:r>
          </a:p>
          <a:p>
            <a:pPr>
              <a:defRPr sz="1500" b="0">
                <a:solidFill>
                  <a:srgbClr val="CCCCCC"/>
                </a:solidFill>
              </a:defRPr>
            </a:pPr>
            <a:r>
              <a:t>USB-to-Serial 변환기 사용 시 장치관리자에서 포트 번호를 확인하세요.</a:t>
            </a:r>
          </a:p>
          <a:p>
            <a:pPr>
              <a:defRPr sz="1500" b="0">
                <a:solidFill>
                  <a:srgbClr val="CCCCCC"/>
                </a:solidFill>
              </a:defRPr>
            </a:pPr>
            <a:r>
              <a:t>[검색] 버튼으로 포트 목록을 갱신할 수 있습니다.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926080"/>
            <a:ext cx="11247120" cy="1645920"/>
          </a:xfrm>
          <a:prstGeom prst="roundRect">
            <a:avLst/>
          </a:prstGeom>
          <a:solidFill>
            <a:srgbClr val="2A2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30175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EC9B0"/>
                </a:solidFill>
              </a:defRPr>
            </a:pPr>
            <a:r>
              <a:t>Step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3017520"/>
            <a:ext cx="9326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[연결] 클릭</a:t>
            </a:r>
          </a:p>
          <a:p>
            <a:pPr>
              <a:defRPr sz="1500" b="0">
                <a:solidFill>
                  <a:srgbClr val="CCCCCC"/>
                </a:solidFill>
              </a:defRPr>
            </a:pPr>
            <a:r>
              <a:t>[연결] 버튼을 클릭하면 선택된 포트로 연결을 시도합니다.</a:t>
            </a:r>
          </a:p>
          <a:p>
            <a:pPr>
              <a:defRPr sz="1500" b="0">
                <a:solidFill>
                  <a:srgbClr val="CCCCCC"/>
                </a:solidFill>
              </a:defRPr>
            </a:pPr>
            <a:r>
              <a:t>통신 설정: 19200bps, 8bit, Even Parity, 1 Stop bit</a:t>
            </a:r>
          </a:p>
          <a:p>
            <a:pPr>
              <a:defRPr sz="1500" b="0">
                <a:solidFill>
                  <a:srgbClr val="CCCCCC"/>
                </a:solidFill>
              </a:defRPr>
            </a:pPr>
            <a:r>
              <a:t>자동으로 설정되므로 별도 설정이 필요 없습니다.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754880"/>
            <a:ext cx="11247120" cy="1645920"/>
          </a:xfrm>
          <a:prstGeom prst="roundRect">
            <a:avLst/>
          </a:prstGeom>
          <a:solidFill>
            <a:srgbClr val="2A2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4846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EC9B0"/>
                </a:solidFill>
              </a:defRPr>
            </a:pPr>
            <a:r>
              <a:t>Step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4846320"/>
            <a:ext cx="9326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연결 상태 확인</a:t>
            </a:r>
          </a:p>
          <a:p>
            <a:pPr>
              <a:defRPr sz="1500" b="0">
                <a:solidFill>
                  <a:srgbClr val="CCCCCC"/>
                </a:solidFill>
              </a:defRPr>
            </a:pPr>
            <a:r>
              <a:t>성공 시: 상태 표시에 "연결됨 - COM3 (19200,8,E,1)" 표시</a:t>
            </a:r>
          </a:p>
          <a:p>
            <a:pPr>
              <a:defRPr sz="1500" b="0">
                <a:solidFill>
                  <a:srgbClr val="CCCCCC"/>
                </a:solidFill>
              </a:defRPr>
            </a:pPr>
            <a:r>
              <a:t>실패 시: "COM 포트를 열 수 없습니다" 오류 메시지</a:t>
            </a:r>
          </a:p>
          <a:p>
            <a:pPr>
              <a:defRPr sz="1500" b="0">
                <a:solidFill>
                  <a:srgbClr val="CCCCCC"/>
                </a:solidFill>
              </a:defRPr>
            </a:pPr>
            <a:r>
              <a:t>연결 후 전송 관련 버튼이 활성화됩니다.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EC9B0"/>
                </a:solidFill>
              </a:defRPr>
            </a:pPr>
            <a:r>
              <a:t>3-2. 자동 찾기 기능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11247120" cy="2286000"/>
          </a:xfrm>
          <a:prstGeom prst="roundRect">
            <a:avLst/>
          </a:prstGeom>
          <a:solidFill>
            <a:srgbClr val="2A2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EC9B0"/>
                </a:solidFill>
              </a:defRPr>
            </a:pPr>
            <a:r>
              <a:t>[자동찾기] 버튼 동작 원리</a:t>
            </a:r>
          </a:p>
          <a:p>
            <a:pPr>
              <a:defRPr sz="1600" b="0">
                <a:solidFill>
                  <a:srgbClr val="CCCCCC"/>
                </a:solidFill>
              </a:defRPr>
            </a:pPr>
            <a:endParaRPr/>
          </a:p>
          <a:p>
            <a:pPr>
              <a:defRPr sz="1700" b="0">
                <a:solidFill>
                  <a:srgbClr val="FFFFFF"/>
                </a:solidFill>
              </a:defRPr>
            </a:pPr>
            <a:r>
              <a:t>1. 시스템에 등록된 모든 COM 포트를 자동으로 검색합니다.</a:t>
            </a:r>
          </a:p>
          <a:p>
            <a:pPr>
              <a:defRPr sz="1700" b="0">
                <a:solidFill>
                  <a:srgbClr val="FFFFFF"/>
                </a:solidFill>
              </a:defRPr>
            </a:pPr>
            <a:r>
              <a:t>2. 각 포트를 순차적으로 열어 IMS-DS-16 명령(:00G)을 전송합니다.</a:t>
            </a:r>
          </a:p>
          <a:p>
            <a:pPr>
              <a:defRPr sz="1700" b="0">
                <a:solidFill>
                  <a:srgbClr val="FFFFFF"/>
                </a:solidFill>
              </a:defRPr>
            </a:pPr>
            <a:r>
              <a:t>3. 500ms 이내에 장비 응답(ACK 0x06)을 수신하면 해당 포트를 장비로 인식합니다.</a:t>
            </a:r>
          </a:p>
          <a:p>
            <a:pPr>
              <a:defRPr sz="1700" b="0">
                <a:solidFill>
                  <a:srgbClr val="FFFFFF"/>
                </a:solidFill>
              </a:defRPr>
            </a:pPr>
            <a:r>
              <a:t>4. 장비가 발견되면 자동으로 해당 포트에 연결됩니다.</a:t>
            </a:r>
          </a:p>
          <a:p>
            <a:pPr>
              <a:defRPr sz="1700" b="0">
                <a:solidFill>
                  <a:srgbClr val="FFFFFF"/>
                </a:solidFill>
              </a:defRPr>
            </a:pPr>
            <a:r>
              <a:t>5. 검색 과정은 통신 로그에 실시간으로 표시됩니다.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657600"/>
            <a:ext cx="5486400" cy="2743200"/>
          </a:xfrm>
          <a:prstGeom prst="roundRect">
            <a:avLst/>
          </a:prstGeom>
          <a:solidFill>
            <a:srgbClr val="2A2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3749039"/>
            <a:ext cx="49377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569CD6"/>
                </a:solidFill>
              </a:defRPr>
            </a:pPr>
            <a:r>
              <a:t>통신 로그 예시</a:t>
            </a:r>
          </a:p>
          <a:p>
            <a:pPr>
              <a:defRPr sz="1600" b="0">
                <a:solidFill>
                  <a:srgbClr val="CCCCCC"/>
                </a:solidFill>
              </a:defRPr>
            </a:pPr>
            <a:endParaRPr/>
          </a:p>
          <a:p>
            <a:pPr>
              <a:defRPr sz="1400" b="0">
                <a:solidFill>
                  <a:srgbClr val="CCCCCC"/>
                </a:solidFill>
              </a:defRPr>
            </a:pPr>
            <a:r>
              <a:t>[15:30:01] [SYS] 장비 자동 검색 시작...</a:t>
            </a:r>
          </a:p>
          <a:p>
            <a:pPr>
              <a:defRPr sz="1400" b="0">
                <a:solidFill>
                  <a:srgbClr val="CCCCCC"/>
                </a:solidFill>
              </a:defRPr>
            </a:pPr>
            <a:r>
              <a:t>[15:30:01] [SYS] COM1 검색 중...</a:t>
            </a:r>
          </a:p>
          <a:p>
            <a:pPr>
              <a:defRPr sz="1400" b="0">
                <a:solidFill>
                  <a:srgbClr val="CCCCCC"/>
                </a:solidFill>
              </a:defRPr>
            </a:pPr>
            <a:r>
              <a:t>[15:30:02] [SYS] COM1 응답 없음</a:t>
            </a:r>
          </a:p>
          <a:p>
            <a:pPr>
              <a:defRPr sz="1400" b="0">
                <a:solidFill>
                  <a:srgbClr val="CCCCCC"/>
                </a:solidFill>
              </a:defRPr>
            </a:pPr>
            <a:r>
              <a:t>[15:30:02] [SYS] COM3 검색 중...</a:t>
            </a:r>
          </a:p>
          <a:p>
            <a:pPr>
              <a:defRPr sz="1400" b="0">
                <a:solidFill>
                  <a:srgbClr val="4EC9B0"/>
                </a:solidFill>
              </a:defRPr>
            </a:pPr>
            <a:r>
              <a:t>[15:30:02] [SYS] COM3 에서 IMS-DS-16 장비 발견!</a:t>
            </a:r>
          </a:p>
          <a:p>
            <a:pPr>
              <a:defRPr sz="1400" b="0">
                <a:solidFill>
                  <a:srgbClr val="4EC9B0"/>
                </a:solidFill>
              </a:defRPr>
            </a:pPr>
            <a:r>
              <a:t>[15:30:02] [SYS] 자동 연결 완료: COM3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657600"/>
            <a:ext cx="5486400" cy="2743200"/>
          </a:xfrm>
          <a:prstGeom prst="roundRect">
            <a:avLst/>
          </a:prstGeom>
          <a:solidFill>
            <a:srgbClr val="3A2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92240" y="3749039"/>
            <a:ext cx="49377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8C00"/>
                </a:solidFill>
              </a:defRPr>
            </a:pPr>
            <a:r>
              <a:t>⚠ 주의사항</a:t>
            </a:r>
          </a:p>
          <a:p>
            <a:pPr>
              <a:defRPr sz="1600" b="0">
                <a:solidFill>
                  <a:srgbClr val="CCCCCC"/>
                </a:solidFill>
              </a:defRPr>
            </a:pPr>
            <a:endParaRPr/>
          </a:p>
          <a:p>
            <a:pPr>
              <a:defRPr sz="1600" b="0">
                <a:solidFill>
                  <a:srgbClr val="FFFFFF"/>
                </a:solidFill>
              </a:defRPr>
            </a:pPr>
            <a:r>
              <a:t>• 장비 전원이 켜져 있어야 검색됩니다.</a:t>
            </a:r>
          </a:p>
          <a:p>
            <a:pPr>
              <a:defRPr sz="1600" b="0">
                <a:solidFill>
                  <a:srgbClr val="FFFFFF"/>
                </a:solidFill>
              </a:defRPr>
            </a:pPr>
            <a:r>
              <a:t>• RS232 케이블이 정상 연결되어 있어야 합니다.</a:t>
            </a:r>
          </a:p>
          <a:p>
            <a:pPr>
              <a:defRPr sz="1600" b="0">
                <a:solidFill>
                  <a:srgbClr val="FFFFFF"/>
                </a:solidFill>
              </a:defRPr>
            </a:pPr>
            <a:r>
              <a:t>• 다른 프로그램이 사용 중인 포트는 건너뜁니다.</a:t>
            </a:r>
          </a:p>
          <a:p>
            <a:pPr>
              <a:defRPr sz="1600" b="0">
                <a:solidFill>
                  <a:srgbClr val="FFFFFF"/>
                </a:solidFill>
              </a:defRPr>
            </a:pPr>
            <a:r>
              <a:t>• 이미 연결된 상태에서는 사용할 수 없습니다.</a:t>
            </a:r>
          </a:p>
          <a:p>
            <a:pPr>
              <a:defRPr sz="1600" b="0">
                <a:solidFill>
                  <a:srgbClr val="CCCCCC"/>
                </a:solidFill>
              </a:defRPr>
            </a:pPr>
            <a:r>
              <a:t>  (먼저 [해제] 후 사용)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4EC9B0"/>
                </a:solidFill>
              </a:defRPr>
            </a:pPr>
            <a: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명령 모드 선택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4023360"/>
            <a:ext cx="2103120" cy="4572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EC9B0"/>
                </a:solidFill>
              </a:defRPr>
            </a:pPr>
            <a:r>
              <a:t>4. 명령 모드 — DS-16 확장 vs LS-12 호환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5486400" cy="4572000"/>
          </a:xfrm>
          <a:prstGeom prst="roundRect">
            <a:avLst/>
          </a:prstGeom>
          <a:solidFill>
            <a:srgbClr val="2A2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49377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EC9B0"/>
                </a:solidFill>
              </a:defRPr>
            </a:pPr>
            <a:r>
              <a:t>DS-16 확장 모드 (권장)</a:t>
            </a:r>
          </a:p>
          <a:p>
            <a:pPr>
              <a:defRPr sz="1600" b="0">
                <a:solidFill>
                  <a:srgbClr val="CCCCCC"/>
                </a:solidFill>
              </a:defRPr>
            </a:pPr>
            <a:endParaRPr/>
          </a:p>
          <a:p>
            <a:pPr>
              <a:defRPr sz="1600" b="0">
                <a:solidFill>
                  <a:srgbClr val="DCDCAA"/>
                </a:solidFill>
              </a:defRPr>
            </a:pPr>
            <a:r>
              <a:t>프로토콜 접두어: :00B...</a:t>
            </a:r>
          </a:p>
          <a:p>
            <a:pPr>
              <a:defRPr sz="1600" b="0">
                <a:solidFill>
                  <a:srgbClr val="CCCCCC"/>
                </a:solidFill>
              </a:defRPr>
            </a:pPr>
            <a:endParaRPr/>
          </a:p>
          <a:p>
            <a:pPr>
              <a:defRPr sz="1600" b="0">
                <a:solidFill>
                  <a:srgbClr val="FFFFFF"/>
                </a:solidFill>
              </a:defRPr>
            </a:pPr>
            <a:r>
              <a:t>• 페이지 범위: 00 ~ 98 (최대 99페이지)</a:t>
            </a:r>
          </a:p>
          <a:p>
            <a:pPr>
              <a:defRPr sz="1600" b="0">
                <a:solidFill>
                  <a:srgbClr val="FFFFFF"/>
                </a:solidFill>
              </a:defRPr>
            </a:pPr>
            <a:r>
              <a:t>• Max Page 설정 가능 (1~99)</a:t>
            </a:r>
          </a:p>
          <a:p>
            <a:pPr>
              <a:defRPr sz="1600" b="0">
                <a:solidFill>
                  <a:srgbClr val="FFFFFF"/>
                </a:solidFill>
              </a:defRPr>
            </a:pPr>
            <a:r>
              <a:t>• 스트로브 반복 횟수 설정 (1~9회)</a:t>
            </a:r>
          </a:p>
          <a:p>
            <a:pPr>
              <a:defRPr sz="1600" b="0">
                <a:solidFill>
                  <a:srgbClr val="FFFFFF"/>
                </a:solidFill>
              </a:defRPr>
            </a:pPr>
            <a:r>
              <a:t>• 순차 페이지 트리거/리셋</a:t>
            </a:r>
          </a:p>
          <a:p>
            <a:pPr>
              <a:defRPr sz="1600" b="0">
                <a:solidFill>
                  <a:srgbClr val="FFFFFF"/>
                </a:solidFill>
              </a:defRPr>
            </a:pPr>
            <a:r>
              <a:t>• Page Section (시작/끝 페이지)</a:t>
            </a:r>
          </a:p>
          <a:p>
            <a:pPr>
              <a:defRPr sz="1600" b="0">
                <a:solidFill>
                  <a:srgbClr val="FFFFFF"/>
                </a:solidFill>
              </a:defRPr>
            </a:pPr>
            <a:r>
              <a:t>• 트리거 Skip (노이즈 방지)</a:t>
            </a:r>
          </a:p>
          <a:p>
            <a:pPr>
              <a:defRPr sz="1600" b="0">
                <a:solidFill>
                  <a:srgbClr val="FFFFFF"/>
                </a:solidFill>
              </a:defRPr>
            </a:pPr>
            <a:r>
              <a:t>• 페이지 HOLD 기능</a:t>
            </a:r>
          </a:p>
          <a:p>
            <a:pPr>
              <a:defRPr sz="1600" b="0">
                <a:solidFill>
                  <a:srgbClr val="FFFFFF"/>
                </a:solidFill>
              </a:defRPr>
            </a:pPr>
            <a:r>
              <a:t>• 데이터 저장/확인</a:t>
            </a:r>
          </a:p>
          <a:p>
            <a:pPr>
              <a:defRPr sz="1600" b="0">
                <a:solidFill>
                  <a:srgbClr val="CCCCCC"/>
                </a:solidFill>
              </a:defRPr>
            </a:pPr>
            <a:endParaRPr/>
          </a:p>
          <a:p>
            <a:pPr>
              <a:defRPr sz="1700" b="1">
                <a:solidFill>
                  <a:srgbClr val="4EC9B0"/>
                </a:solidFill>
              </a:defRPr>
            </a:pPr>
            <a:r>
              <a:t>→ IMS-DS-16의 모든 기능 사용 가능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097280"/>
            <a:ext cx="5486400" cy="4572000"/>
          </a:xfrm>
          <a:prstGeom prst="roundRect">
            <a:avLst/>
          </a:prstGeom>
          <a:solidFill>
            <a:srgbClr val="2A2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92240" y="1188720"/>
            <a:ext cx="49377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569CD6"/>
                </a:solidFill>
              </a:defRPr>
            </a:pPr>
            <a:r>
              <a:t>LS-12 호환 모드</a:t>
            </a:r>
          </a:p>
          <a:p>
            <a:pPr>
              <a:defRPr sz="1600" b="0">
                <a:solidFill>
                  <a:srgbClr val="CCCCCC"/>
                </a:solidFill>
              </a:defRPr>
            </a:pPr>
            <a:endParaRPr/>
          </a:p>
          <a:p>
            <a:pPr>
              <a:defRPr sz="1600" b="0">
                <a:solidFill>
                  <a:srgbClr val="DCDCAA"/>
                </a:solidFill>
              </a:defRPr>
            </a:pPr>
            <a:r>
              <a:t>프로토콜 접두어: :1...</a:t>
            </a:r>
          </a:p>
          <a:p>
            <a:pPr>
              <a:defRPr sz="1600" b="0">
                <a:solidFill>
                  <a:srgbClr val="CCCCCC"/>
                </a:solidFill>
              </a:defRPr>
            </a:pPr>
            <a:endParaRPr/>
          </a:p>
          <a:p>
            <a:pPr>
              <a:defRPr sz="1600" b="0">
                <a:solidFill>
                  <a:srgbClr val="FFFFFF"/>
                </a:solidFill>
              </a:defRPr>
            </a:pPr>
            <a:r>
              <a:t>• 페이지 범위: 0 ~ 9 (10페이지만)</a:t>
            </a:r>
          </a:p>
          <a:p>
            <a:pPr>
              <a:defRPr sz="1600" b="0">
                <a:solidFill>
                  <a:srgbClr val="FFFFFF"/>
                </a:solidFill>
              </a:defRPr>
            </a:pPr>
            <a:r>
              <a:t>• Max Page 설정 (1~32)</a:t>
            </a:r>
          </a:p>
          <a:p>
            <a:pPr>
              <a:defRPr sz="1600" b="0">
                <a:solidFill>
                  <a:srgbClr val="FFFFFF"/>
                </a:solidFill>
              </a:defRPr>
            </a:pPr>
            <a:r>
              <a:t>• 반복 횟수 설정 불가</a:t>
            </a:r>
          </a:p>
          <a:p>
            <a:pPr>
              <a:defRPr sz="1600" b="0">
                <a:solidFill>
                  <a:srgbClr val="FFFFFF"/>
                </a:solidFill>
              </a:defRPr>
            </a:pPr>
            <a:r>
              <a:t>• 기본 ON TIME 설정/확인만 가능</a:t>
            </a:r>
          </a:p>
          <a:p>
            <a:pPr>
              <a:defRPr sz="1600" b="0">
                <a:solidFill>
                  <a:srgbClr val="FFFFFF"/>
                </a:solidFill>
              </a:defRPr>
            </a:pPr>
            <a:r>
              <a:t>• 배수 설정/확인</a:t>
            </a:r>
          </a:p>
          <a:p>
            <a:pPr>
              <a:defRPr sz="1600" b="0">
                <a:solidFill>
                  <a:srgbClr val="CCCCCC"/>
                </a:solidFill>
              </a:defRPr>
            </a:pPr>
            <a:endParaRPr/>
          </a:p>
          <a:p>
            <a:pPr>
              <a:defRPr sz="1700" b="0">
                <a:solidFill>
                  <a:srgbClr val="CCCCCC"/>
                </a:solidFill>
              </a:defRPr>
            </a:pPr>
            <a:r>
              <a:t>→ 기존 IMS-LS-12 프로그램과의</a:t>
            </a:r>
          </a:p>
          <a:p>
            <a:pPr>
              <a:defRPr sz="1700" b="0">
                <a:solidFill>
                  <a:srgbClr val="CCCCCC"/>
                </a:solidFill>
              </a:defRPr>
            </a:pPr>
            <a:r>
              <a:t>  하위 호환을 위한 모드</a:t>
            </a:r>
          </a:p>
          <a:p>
            <a:pPr>
              <a:defRPr sz="1600" b="0">
                <a:solidFill>
                  <a:srgbClr val="FF8C00"/>
                </a:solidFill>
              </a:defRPr>
            </a:pPr>
            <a:r>
              <a:t>→ 특별한 이유가 없으면 DS-16 사용 권장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852160"/>
            <a:ext cx="11247120" cy="731520"/>
          </a:xfrm>
          <a:prstGeom prst="roundRect">
            <a:avLst/>
          </a:prstGeom>
          <a:solidFill>
            <a:srgbClr val="2D2D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59436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</a:defRPr>
            </a:pPr>
            <a:r>
              <a:t>모드 전환: 화면 상단의 라디오 버튼  ● DS-16 확장  /  ○ LS-12 호환  에서 선택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4EC9B0"/>
                </a:solidFill>
              </a:defRPr>
            </a:pPr>
            <a: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채널 ON TIME 설정 및 전송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4023360"/>
            <a:ext cx="2103120" cy="4572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EC9B0"/>
                </a:solidFill>
              </a:defRPr>
            </a:pPr>
            <a:r>
              <a:t>5. 채널 ON TIME 설정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6858000" cy="3200400"/>
          </a:xfrm>
          <a:prstGeom prst="roundRect">
            <a:avLst/>
          </a:prstGeom>
          <a:solidFill>
            <a:srgbClr val="2A2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64008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EC9B0"/>
                </a:solidFill>
              </a:defRPr>
            </a:pPr>
            <a:r>
              <a:t>ON TIME 값 입력</a:t>
            </a:r>
          </a:p>
          <a:p>
            <a:pPr>
              <a:defRPr sz="1600" b="0">
                <a:solidFill>
                  <a:srgbClr val="CCCCCC"/>
                </a:solidFill>
              </a:defRPr>
            </a:pPr>
            <a:endParaRPr/>
          </a:p>
          <a:p>
            <a:pPr>
              <a:defRPr sz="1600" b="0">
                <a:solidFill>
                  <a:srgbClr val="FFFFFF"/>
                </a:solidFill>
              </a:defRPr>
            </a:pPr>
            <a:r>
              <a:t>• 화면 중앙에 CH01~CH16 입력란이 2열로 배치</a:t>
            </a:r>
          </a:p>
          <a:p>
            <a:pPr>
              <a:defRPr sz="1600" b="0">
                <a:solidFill>
                  <a:srgbClr val="FFFFFF"/>
                </a:solidFill>
              </a:defRPr>
            </a:pPr>
            <a:r>
              <a:t>• 각 채널별 ON TIME 값을 직접 입력 (0~999 us)</a:t>
            </a:r>
          </a:p>
          <a:p>
            <a:pPr>
              <a:defRPr sz="1600" b="0">
                <a:solidFill>
                  <a:srgbClr val="FFFFFF"/>
                </a:solidFill>
              </a:defRPr>
            </a:pPr>
            <a:r>
              <a:t>• 스핀 버튼(▲▼)으로 1us 단위 조정 가능</a:t>
            </a:r>
          </a:p>
          <a:p>
            <a:pPr>
              <a:defRPr sz="1600" b="0">
                <a:solidFill>
                  <a:srgbClr val="CCCCCC"/>
                </a:solidFill>
              </a:defRPr>
            </a:pPr>
            <a:endParaRPr/>
          </a:p>
          <a:p>
            <a:pPr>
              <a:defRPr sz="1800" b="1">
                <a:solidFill>
                  <a:srgbClr val="569CD6"/>
                </a:solidFill>
              </a:defRPr>
            </a:pPr>
            <a:r>
              <a:t>일괄 적용 기능:</a:t>
            </a:r>
          </a:p>
          <a:p>
            <a:pPr>
              <a:defRPr sz="1600" b="0">
                <a:solidFill>
                  <a:srgbClr val="FFFFFF"/>
                </a:solidFill>
              </a:defRPr>
            </a:pPr>
            <a:r>
              <a:t>• 'All ON TIME' 란에 값 입력 → [일괄적용] 클릭</a:t>
            </a:r>
          </a:p>
          <a:p>
            <a:pPr>
              <a:defRPr sz="1600" b="0">
                <a:solidFill>
                  <a:srgbClr val="CCCCCC"/>
                </a:solidFill>
              </a:defRPr>
            </a:pPr>
            <a:r>
              <a:t>  → 16채널 모두 동일한 값으로 설정</a:t>
            </a:r>
          </a:p>
          <a:p>
            <a:pPr>
              <a:defRPr sz="1600" b="0">
                <a:solidFill>
                  <a:srgbClr val="CCCCCC"/>
                </a:solidFill>
              </a:defRPr>
            </a:pPr>
            <a:endParaRPr/>
          </a:p>
          <a:p>
            <a:pPr>
              <a:defRPr sz="1500" b="0">
                <a:solidFill>
                  <a:srgbClr val="DCDCAA"/>
                </a:solidFill>
              </a:defRPr>
            </a:pPr>
            <a:r>
              <a:t>ON TIME = 조명이 켜지는 시간 (마이크로초)</a:t>
            </a:r>
          </a:p>
          <a:p>
            <a:pPr>
              <a:defRPr sz="1500" b="0">
                <a:solidFill>
                  <a:srgbClr val="DCDCAA"/>
                </a:solidFill>
              </a:defRPr>
            </a:pPr>
            <a:r>
              <a:t>값이 클수록 밝게, 작을수록 어둡게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89520" y="1097280"/>
            <a:ext cx="4114800" cy="3200400"/>
          </a:xfrm>
          <a:prstGeom prst="roundRect">
            <a:avLst/>
          </a:prstGeom>
          <a:solidFill>
            <a:srgbClr val="2A2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863840" y="1188720"/>
            <a:ext cx="36576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EC9B0"/>
                </a:solidFill>
              </a:defRPr>
            </a:pPr>
            <a:r>
              <a:t>페이지/반복 설정</a:t>
            </a:r>
          </a:p>
          <a:p>
            <a:pPr>
              <a:defRPr sz="1600" b="0">
                <a:solidFill>
                  <a:srgbClr val="CCCCCC"/>
                </a:solidFill>
              </a:defRPr>
            </a:pPr>
            <a:endParaRPr/>
          </a:p>
          <a:p>
            <a:pPr>
              <a:defRPr sz="1700" b="1">
                <a:solidFill>
                  <a:srgbClr val="569CD6"/>
                </a:solidFill>
              </a:defRPr>
            </a:pPr>
            <a:r>
              <a:t>Max Page</a:t>
            </a:r>
          </a:p>
          <a:p>
            <a:pPr>
              <a:defRPr sz="1400" b="0">
                <a:solidFill>
                  <a:srgbClr val="CCCCCC"/>
                </a:solidFill>
              </a:defRPr>
            </a:pPr>
            <a:r>
              <a:t>순차 페이지의 최대 범위</a:t>
            </a:r>
          </a:p>
          <a:p>
            <a:pPr>
              <a:defRPr sz="1400" b="0">
                <a:solidFill>
                  <a:srgbClr val="CCCCCC"/>
                </a:solidFill>
              </a:defRPr>
            </a:pPr>
            <a:r>
              <a:t>예) 5 설정 시 0→1→2→3→4→0...</a:t>
            </a:r>
          </a:p>
          <a:p>
            <a:pPr>
              <a:defRPr sz="1600" b="0">
                <a:solidFill>
                  <a:srgbClr val="CCCCCC"/>
                </a:solidFill>
              </a:defRPr>
            </a:pPr>
            <a:endParaRPr/>
          </a:p>
          <a:p>
            <a:pPr>
              <a:defRPr sz="1700" b="1">
                <a:solidFill>
                  <a:srgbClr val="569CD6"/>
                </a:solidFill>
              </a:defRPr>
            </a:pPr>
            <a:r>
              <a:t>Page</a:t>
            </a:r>
          </a:p>
          <a:p>
            <a:pPr>
              <a:defRPr sz="1400" b="0">
                <a:solidFill>
                  <a:srgbClr val="CCCCCC"/>
                </a:solidFill>
              </a:defRPr>
            </a:pPr>
            <a:r>
              <a:t>현재 설정할 페이지 번호</a:t>
            </a:r>
          </a:p>
          <a:p>
            <a:pPr>
              <a:defRPr sz="1600" b="0">
                <a:solidFill>
                  <a:srgbClr val="CCCCCC"/>
                </a:solidFill>
              </a:defRPr>
            </a:pPr>
            <a:endParaRPr/>
          </a:p>
          <a:p>
            <a:pPr>
              <a:defRPr sz="1700" b="1">
                <a:solidFill>
                  <a:srgbClr val="569CD6"/>
                </a:solidFill>
              </a:defRPr>
            </a:pPr>
            <a:r>
              <a:t>반복 (DS-16 전용)</a:t>
            </a:r>
          </a:p>
          <a:p>
            <a:pPr>
              <a:defRPr sz="1400" b="0">
                <a:solidFill>
                  <a:srgbClr val="CCCCCC"/>
                </a:solidFill>
              </a:defRPr>
            </a:pPr>
            <a:r>
              <a:t>1회 트리거 시 스트로브 발생 횟수</a:t>
            </a:r>
          </a:p>
          <a:p>
            <a:pPr>
              <a:defRPr sz="1400" b="0">
                <a:solidFill>
                  <a:srgbClr val="CCCCCC"/>
                </a:solidFill>
              </a:defRPr>
            </a:pPr>
            <a:r>
              <a:t>밝기 부족 시 2~9 설정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4572000"/>
            <a:ext cx="11247120" cy="2011680"/>
          </a:xfrm>
          <a:prstGeom prst="roundRect">
            <a:avLst/>
          </a:prstGeom>
          <a:solidFill>
            <a:srgbClr val="2A2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466344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EC9B0"/>
                </a:solidFill>
              </a:defRPr>
            </a:pPr>
            <a:r>
              <a:t>[전체 전송] 버튼 동작</a:t>
            </a:r>
          </a:p>
          <a:p>
            <a:pPr>
              <a:defRPr sz="1600" b="0">
                <a:solidFill>
                  <a:srgbClr val="CCCCCC"/>
                </a:solidFill>
              </a:defRPr>
            </a:pPr>
            <a:endParaRPr/>
          </a:p>
          <a:p>
            <a:pPr>
              <a:defRPr sz="1600" b="0">
                <a:solidFill>
                  <a:srgbClr val="FFFFFF"/>
                </a:solidFill>
              </a:defRPr>
            </a:pPr>
            <a:r>
              <a:t>DS-16 모드: :00B[MaxPage][Page][Repeat][CH01],[CH02],...,[CH16]\r\n 전송</a:t>
            </a:r>
          </a:p>
          <a:p>
            <a:pPr>
              <a:defRPr sz="1400" b="0">
                <a:solidFill>
                  <a:srgbClr val="CCCCCC"/>
                </a:solidFill>
              </a:defRPr>
            </a:pPr>
            <a:r>
              <a:t>  예시) :00B01002500,300,200,000,...,000  →  MaxPage=1, Page=0, 반복=2, CH01=500us, CH02=300us...</a:t>
            </a:r>
          </a:p>
          <a:p>
            <a:pPr>
              <a:defRPr sz="1600" b="0">
                <a:solidFill>
                  <a:srgbClr val="CCCCCC"/>
                </a:solidFill>
              </a:defRPr>
            </a:pPr>
            <a:endParaRPr/>
          </a:p>
          <a:p>
            <a:pPr>
              <a:defRPr sz="1600" b="0">
                <a:solidFill>
                  <a:srgbClr val="FFFFFF"/>
                </a:solidFill>
              </a:defRPr>
            </a:pPr>
            <a:r>
              <a:t>LS-12 모드: :1[Page][CH01],[CH02],...,[CH16]\r\n 전송</a:t>
            </a:r>
          </a:p>
          <a:p>
            <a:pPr>
              <a:defRPr sz="1400" b="0">
                <a:solidFill>
                  <a:srgbClr val="CCCCCC"/>
                </a:solidFill>
              </a:defRPr>
            </a:pPr>
            <a:r>
              <a:t>  예시) :10500,300,200,000,...,000  →  Page=0, CH01=500us, CH02=300us...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4EC9B0"/>
                </a:solidFill>
              </a:defRPr>
            </a:pPr>
            <a: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배수(Multiplier) 설정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4023360"/>
            <a:ext cx="2103120" cy="4572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EC9B0"/>
                </a:solidFill>
              </a:defRPr>
            </a:pPr>
            <a:r>
              <a:t>6. 배수 설정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6858000" cy="2743200"/>
          </a:xfrm>
          <a:prstGeom prst="roundRect">
            <a:avLst/>
          </a:prstGeom>
          <a:solidFill>
            <a:srgbClr val="2A2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6400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EC9B0"/>
                </a:solidFill>
              </a:defRPr>
            </a:pPr>
            <a:r>
              <a:t>배수란?</a:t>
            </a:r>
          </a:p>
          <a:p>
            <a:pPr>
              <a:defRPr sz="1600" b="0">
                <a:solidFill>
                  <a:srgbClr val="CCCCCC"/>
                </a:solidFill>
              </a:defRPr>
            </a:pPr>
            <a:endParaRPr/>
          </a:p>
          <a:p>
            <a:pPr>
              <a:defRPr sz="1700" b="0">
                <a:solidFill>
                  <a:srgbClr val="FFFFFF"/>
                </a:solidFill>
              </a:defRPr>
            </a:pPr>
            <a:r>
              <a:t>각 채널의 ON TIME에 곱하는 배율 (1~5배)</a:t>
            </a:r>
          </a:p>
          <a:p>
            <a:pPr>
              <a:defRPr sz="1600" b="0">
                <a:solidFill>
                  <a:srgbClr val="CCCCCC"/>
                </a:solidFill>
              </a:defRPr>
            </a:pPr>
            <a:endParaRPr/>
          </a:p>
          <a:p>
            <a:pPr>
              <a:defRPr sz="1700" b="1">
                <a:solidFill>
                  <a:srgbClr val="569CD6"/>
                </a:solidFill>
              </a:defRPr>
            </a:pPr>
            <a:r>
              <a:t>예시:</a:t>
            </a:r>
          </a:p>
          <a:p>
            <a:pPr>
              <a:defRPr sz="1600" b="0">
                <a:solidFill>
                  <a:srgbClr val="FFFFFF"/>
                </a:solidFill>
              </a:defRPr>
            </a:pPr>
            <a:r>
              <a:t>  CH01 ON TIME = 300us, 배수 = 3</a:t>
            </a:r>
          </a:p>
          <a:p>
            <a:pPr>
              <a:defRPr sz="1600" b="0">
                <a:solidFill>
                  <a:srgbClr val="4EC9B0"/>
                </a:solidFill>
              </a:defRPr>
            </a:pPr>
            <a:r>
              <a:t>  → 실제 출력 ON TIME = 900us</a:t>
            </a:r>
          </a:p>
          <a:p>
            <a:pPr>
              <a:defRPr sz="1600" b="0">
                <a:solidFill>
                  <a:srgbClr val="CCCCCC"/>
                </a:solidFill>
              </a:defRPr>
            </a:pPr>
            <a:endParaRPr/>
          </a:p>
          <a:p>
            <a:pPr>
              <a:defRPr sz="1600" b="0">
                <a:solidFill>
                  <a:srgbClr val="CCCCCC"/>
                </a:solidFill>
              </a:defRPr>
            </a:pPr>
            <a:r>
              <a:t>• 페이지에 관계없이 모든 페이지에 동일 적용</a:t>
            </a:r>
          </a:p>
          <a:p>
            <a:pPr>
              <a:defRPr sz="1600" b="0">
                <a:solidFill>
                  <a:srgbClr val="CCCCCC"/>
                </a:solidFill>
              </a:defRPr>
            </a:pPr>
            <a:r>
              <a:t>• 통신으로만 설정 가능 (장비 패널에서 설정 불가)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89520" y="1097280"/>
            <a:ext cx="4114800" cy="2743200"/>
          </a:xfrm>
          <a:prstGeom prst="roundRect">
            <a:avLst/>
          </a:prstGeom>
          <a:solidFill>
            <a:srgbClr val="3A2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863840" y="1188720"/>
            <a:ext cx="3657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5555"/>
                </a:solidFill>
              </a:defRPr>
            </a:pPr>
            <a:r>
              <a:t>⚠ 경고</a:t>
            </a:r>
          </a:p>
          <a:p>
            <a:pPr>
              <a:defRPr sz="1600" b="0">
                <a:solidFill>
                  <a:srgbClr val="CCCCCC"/>
                </a:solidFill>
              </a:defRPr>
            </a:pPr>
            <a:endParaRPr/>
          </a:p>
          <a:p>
            <a:pPr>
              <a:defRPr sz="1700" b="0">
                <a:solidFill>
                  <a:srgbClr val="FFFFFF"/>
                </a:solidFill>
              </a:defRPr>
            </a:pPr>
            <a:r>
              <a:t>무리한 배수 증가 시</a:t>
            </a:r>
          </a:p>
          <a:p>
            <a:pPr>
              <a:defRPr sz="1700" b="1">
                <a:solidFill>
                  <a:srgbClr val="FF5555"/>
                </a:solidFill>
              </a:defRPr>
            </a:pPr>
            <a:r>
              <a:t>조명이 파손될 수 있습니다!</a:t>
            </a:r>
          </a:p>
          <a:p>
            <a:pPr>
              <a:defRPr sz="1600" b="0">
                <a:solidFill>
                  <a:srgbClr val="CCCCCC"/>
                </a:solidFill>
              </a:defRPr>
            </a:pPr>
            <a:endParaRPr/>
          </a:p>
          <a:p>
            <a:pPr>
              <a:defRPr sz="1600" b="0">
                <a:solidFill>
                  <a:srgbClr val="FFFFFF"/>
                </a:solidFill>
              </a:defRPr>
            </a:pPr>
            <a:r>
              <a:t>• 최대: ON TIME 999us × 5배</a:t>
            </a:r>
          </a:p>
          <a:p>
            <a:pPr>
              <a:defRPr sz="1600" b="0">
                <a:solidFill>
                  <a:srgbClr val="FF8C00"/>
                </a:solidFill>
              </a:defRPr>
            </a:pPr>
            <a:r>
              <a:t>  = 4,995us 출력</a:t>
            </a:r>
          </a:p>
          <a:p>
            <a:pPr>
              <a:defRPr sz="1600" b="0">
                <a:solidFill>
                  <a:srgbClr val="FFFFFF"/>
                </a:solidFill>
              </a:defRPr>
            </a:pPr>
            <a:r>
              <a:t>• 조명 사양을 반드시 확인 후</a:t>
            </a:r>
          </a:p>
          <a:p>
            <a:pPr>
              <a:defRPr sz="1600" b="0">
                <a:solidFill>
                  <a:srgbClr val="FFFFFF"/>
                </a:solidFill>
              </a:defRPr>
            </a:pPr>
            <a:r>
              <a:t>  적절한 범위에서 사용하세요.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4114800"/>
            <a:ext cx="11247120" cy="2286000"/>
          </a:xfrm>
          <a:prstGeom prst="roundRect">
            <a:avLst/>
          </a:prstGeom>
          <a:solidFill>
            <a:srgbClr val="2A2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4206240"/>
            <a:ext cx="106984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EC9B0"/>
                </a:solidFill>
              </a:defRPr>
            </a:pPr>
            <a:r>
              <a:t>사용 방법</a:t>
            </a:r>
          </a:p>
          <a:p>
            <a:pPr>
              <a:defRPr sz="1600" b="0">
                <a:solidFill>
                  <a:srgbClr val="CCCCCC"/>
                </a:solidFill>
              </a:defRPr>
            </a:pPr>
            <a:endParaRPr/>
          </a:p>
          <a:p>
            <a:pPr>
              <a:defRPr sz="1700" b="0">
                <a:solidFill>
                  <a:srgbClr val="FFFFFF"/>
                </a:solidFill>
              </a:defRPr>
            </a:pPr>
            <a:r>
              <a:t>1. 각 채널 옆의 배수 콤보박스에서 1~5 선택 (일괄 적용도 가능)</a:t>
            </a:r>
          </a:p>
          <a:p>
            <a:pPr>
              <a:defRPr sz="1700" b="0">
                <a:solidFill>
                  <a:srgbClr val="FFFFFF"/>
                </a:solidFill>
              </a:defRPr>
            </a:pPr>
            <a:r>
              <a:t>2. [배수 설정] 버튼 클릭 → 프로토콜: :1X[M1],[M2],...,[M16]\r\n</a:t>
            </a:r>
          </a:p>
          <a:p>
            <a:pPr>
              <a:defRPr sz="1700" b="0">
                <a:solidFill>
                  <a:srgbClr val="FFFFFF"/>
                </a:solidFill>
              </a:defRPr>
            </a:pPr>
            <a:r>
              <a:t>3. [배수 확인] 버튼 클릭 → 현재 장비에 설정된 배수 값 조회 (:1RU\r\n)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4EC9B0"/>
                </a:solidFill>
              </a:defRPr>
            </a:pPr>
            <a: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데이터 저장 / 확인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4023360"/>
            <a:ext cx="2103120" cy="4572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EC9B0"/>
                </a:solidFill>
              </a:defRPr>
            </a:pPr>
            <a:r>
              <a:t>7. 데이터 저장 / 데이터 확인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5486400" cy="3200400"/>
          </a:xfrm>
          <a:prstGeom prst="roundRect">
            <a:avLst/>
          </a:prstGeom>
          <a:solidFill>
            <a:srgbClr val="2A2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49377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EC9B0"/>
                </a:solidFill>
              </a:defRPr>
            </a:pPr>
            <a:r>
              <a:t>[데이터 저장]</a:t>
            </a:r>
          </a:p>
          <a:p>
            <a:pPr>
              <a:defRPr sz="1600" b="0">
                <a:solidFill>
                  <a:srgbClr val="CCCCCC"/>
                </a:solidFill>
              </a:defRPr>
            </a:pPr>
            <a:endParaRPr/>
          </a:p>
          <a:p>
            <a:pPr>
              <a:defRPr sz="1600" b="0">
                <a:solidFill>
                  <a:srgbClr val="DCDCAA"/>
                </a:solidFill>
              </a:defRPr>
            </a:pPr>
            <a:r>
              <a:t>프로토콜: :00S\r\n</a:t>
            </a:r>
          </a:p>
          <a:p>
            <a:pPr>
              <a:defRPr sz="1600" b="0">
                <a:solidFill>
                  <a:srgbClr val="CCCCCC"/>
                </a:solidFill>
              </a:defRPr>
            </a:pPr>
            <a:endParaRPr/>
          </a:p>
          <a:p>
            <a:pPr>
              <a:defRPr sz="1700" b="0">
                <a:solidFill>
                  <a:srgbClr val="FFFFFF"/>
                </a:solidFill>
              </a:defRPr>
            </a:pPr>
            <a:r>
              <a:t>• 현재 설정된 모든 페이지의 데이터를</a:t>
            </a:r>
          </a:p>
          <a:p>
            <a:pPr>
              <a:defRPr sz="1700" b="0">
                <a:solidFill>
                  <a:srgbClr val="FFFFFF"/>
                </a:solidFill>
              </a:defRPr>
            </a:pPr>
            <a:r>
              <a:t>  장비 플래시 메모리에 저장합니다.</a:t>
            </a:r>
          </a:p>
          <a:p>
            <a:pPr>
              <a:defRPr sz="1600" b="0">
                <a:solidFill>
                  <a:srgbClr val="CCCCCC"/>
                </a:solidFill>
              </a:defRPr>
            </a:pPr>
            <a:endParaRPr/>
          </a:p>
          <a:p>
            <a:pPr>
              <a:defRPr sz="1700" b="0">
                <a:solidFill>
                  <a:srgbClr val="FF8C00"/>
                </a:solidFill>
              </a:defRPr>
            </a:pPr>
            <a:r>
              <a:t>• 저장하지 않으면 장비 전원 OFF 시</a:t>
            </a:r>
          </a:p>
          <a:p>
            <a:pPr>
              <a:defRPr sz="1700" b="1">
                <a:solidFill>
                  <a:srgbClr val="FF8C00"/>
                </a:solidFill>
              </a:defRPr>
            </a:pPr>
            <a:r>
              <a:t>  설정된 값이 모두 초기화됩니다!</a:t>
            </a:r>
          </a:p>
          <a:p>
            <a:pPr>
              <a:defRPr sz="1600" b="0">
                <a:solidFill>
                  <a:srgbClr val="CCCCCC"/>
                </a:solidFill>
              </a:defRPr>
            </a:pPr>
            <a:endParaRPr/>
          </a:p>
          <a:p>
            <a:pPr>
              <a:defRPr sz="1600" b="0">
                <a:solidFill>
                  <a:srgbClr val="CCCCCC"/>
                </a:solidFill>
              </a:defRPr>
            </a:pPr>
            <a:r>
              <a:t>• 설정 변경 후 반드시 저장 권장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097280"/>
            <a:ext cx="5486400" cy="3200400"/>
          </a:xfrm>
          <a:prstGeom prst="roundRect">
            <a:avLst/>
          </a:prstGeom>
          <a:solidFill>
            <a:srgbClr val="2A2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92240" y="1188720"/>
            <a:ext cx="49377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EC9B0"/>
                </a:solidFill>
              </a:defRPr>
            </a:pPr>
            <a:r>
              <a:t>[데이터 확인]</a:t>
            </a:r>
          </a:p>
          <a:p>
            <a:pPr>
              <a:defRPr sz="1600" b="0">
                <a:solidFill>
                  <a:srgbClr val="CCCCCC"/>
                </a:solidFill>
              </a:defRPr>
            </a:pPr>
            <a:endParaRPr/>
          </a:p>
          <a:p>
            <a:pPr>
              <a:defRPr sz="1600" b="0">
                <a:solidFill>
                  <a:srgbClr val="DCDCAA"/>
                </a:solidFill>
              </a:defRPr>
            </a:pPr>
            <a:r>
              <a:t>DS-16 모드: :00R\r\n</a:t>
            </a:r>
          </a:p>
          <a:p>
            <a:pPr>
              <a:defRPr sz="1600" b="0">
                <a:solidFill>
                  <a:srgbClr val="DCDCAA"/>
                </a:solidFill>
              </a:defRPr>
            </a:pPr>
            <a:r>
              <a:t>LS-12 모드: :1RA\r\n</a:t>
            </a:r>
          </a:p>
          <a:p>
            <a:pPr>
              <a:defRPr sz="1600" b="0">
                <a:solidFill>
                  <a:srgbClr val="CCCCCC"/>
                </a:solidFill>
              </a:defRPr>
            </a:pPr>
            <a:endParaRPr/>
          </a:p>
          <a:p>
            <a:pPr>
              <a:defRPr sz="1700" b="0">
                <a:solidFill>
                  <a:srgbClr val="FFFFFF"/>
                </a:solidFill>
              </a:defRPr>
            </a:pPr>
            <a:r>
              <a:t>• 장비에 현재 저장된 전체 페이지의</a:t>
            </a:r>
          </a:p>
          <a:p>
            <a:pPr>
              <a:defRPr sz="1700" b="0">
                <a:solidFill>
                  <a:srgbClr val="FFFFFF"/>
                </a:solidFill>
              </a:defRPr>
            </a:pPr>
            <a:r>
              <a:t>  ON TIME 데이터를 조회합니다.</a:t>
            </a:r>
          </a:p>
          <a:p>
            <a:pPr>
              <a:defRPr sz="1600" b="0">
                <a:solidFill>
                  <a:srgbClr val="CCCCCC"/>
                </a:solidFill>
              </a:defRPr>
            </a:pPr>
            <a:endParaRPr/>
          </a:p>
          <a:p>
            <a:pPr>
              <a:defRPr sz="1700" b="0">
                <a:solidFill>
                  <a:srgbClr val="FFFFFF"/>
                </a:solidFill>
              </a:defRPr>
            </a:pPr>
            <a:r>
              <a:t>• 응답 데이터는 통신 로그에 표시됩니다.</a:t>
            </a:r>
          </a:p>
          <a:p>
            <a:pPr>
              <a:defRPr sz="1600" b="0">
                <a:solidFill>
                  <a:srgbClr val="CCCCCC"/>
                </a:solidFill>
              </a:defRPr>
            </a:pPr>
            <a:endParaRPr/>
          </a:p>
          <a:p>
            <a:pPr>
              <a:defRPr sz="1600" b="0">
                <a:solidFill>
                  <a:srgbClr val="CCCCCC"/>
                </a:solidFill>
              </a:defRPr>
            </a:pPr>
            <a:r>
              <a:t>• 장비 설정 상태 확인 용도로 활용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4572000"/>
            <a:ext cx="11247120" cy="1828800"/>
          </a:xfrm>
          <a:prstGeom prst="roundRect">
            <a:avLst/>
          </a:prstGeom>
          <a:solidFill>
            <a:srgbClr val="2D2D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466344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D700"/>
                </a:solidFill>
              </a:defRPr>
            </a:pPr>
            <a:r>
              <a:t>일반적인 작업 순서</a:t>
            </a:r>
          </a:p>
          <a:p>
            <a:pPr>
              <a:defRPr sz="1600" b="0">
                <a:solidFill>
                  <a:srgbClr val="CCCCCC"/>
                </a:solidFill>
              </a:defRPr>
            </a:pPr>
            <a:endParaRPr/>
          </a:p>
          <a:p>
            <a:pPr>
              <a:defRPr sz="1800" b="0">
                <a:solidFill>
                  <a:srgbClr val="FFFFFF"/>
                </a:solidFill>
              </a:defRPr>
            </a:pPr>
            <a:r>
              <a:t>① 채널 ON TIME 값 입력  →  ② [전체 전송]  →  ③ ACK 확인  →  ④ [데이터 저장]  →  ⑤ ACK 확인</a:t>
            </a:r>
          </a:p>
          <a:p>
            <a:pPr>
              <a:defRPr sz="1600" b="0">
                <a:solidFill>
                  <a:srgbClr val="CCCCCC"/>
                </a:solidFill>
              </a:defRPr>
            </a:pPr>
            <a:r>
              <a:t>필요 시: [데이터 확인]으로 장비에 실제 저장된 값 검증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4EC9B0"/>
                </a:solidFill>
              </a:defRPr>
            </a:pPr>
            <a: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순차 페이지 제어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4023360"/>
            <a:ext cx="2103120" cy="4572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EC9B0"/>
                </a:solidFill>
              </a:defRPr>
            </a:pPr>
            <a:r>
              <a:t>8. 순차 페이지 제어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3657600" cy="2286000"/>
          </a:xfrm>
          <a:prstGeom prst="roundRect">
            <a:avLst/>
          </a:prstGeom>
          <a:solidFill>
            <a:srgbClr val="2A2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31089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EC9B0"/>
                </a:solidFill>
              </a:defRPr>
            </a:pPr>
            <a:r>
              <a:t>[트리거]</a:t>
            </a:r>
          </a:p>
          <a:p>
            <a:pPr>
              <a:defRPr sz="1400" b="0">
                <a:solidFill>
                  <a:srgbClr val="DCDCAA"/>
                </a:solidFill>
              </a:defRPr>
            </a:pPr>
            <a:r>
              <a:t>:00TPP\r\n</a:t>
            </a:r>
          </a:p>
          <a:p>
            <a:pPr>
              <a:defRPr sz="1600" b="0">
                <a:solidFill>
                  <a:srgbClr val="CCCCCC"/>
                </a:solidFill>
              </a:defRPr>
            </a:pPr>
            <a:endParaRPr/>
          </a:p>
          <a:p>
            <a:pPr>
              <a:defRPr sz="1500" b="0">
                <a:solidFill>
                  <a:srgbClr val="FFFFFF"/>
                </a:solidFill>
              </a:defRPr>
            </a:pPr>
            <a:r>
              <a:t>순차적으로 다음 페이지의</a:t>
            </a:r>
          </a:p>
          <a:p>
            <a:pPr>
              <a:defRPr sz="1500" b="0">
                <a:solidFill>
                  <a:srgbClr val="FFFFFF"/>
                </a:solidFill>
              </a:defRPr>
            </a:pPr>
            <a:r>
              <a:t>스트로브 출력을 발생시킵니다.</a:t>
            </a:r>
          </a:p>
          <a:p>
            <a:pPr>
              <a:defRPr sz="1600" b="0">
                <a:solidFill>
                  <a:srgbClr val="CCCCCC"/>
                </a:solidFill>
              </a:defRPr>
            </a:pPr>
            <a:endParaRPr/>
          </a:p>
          <a:p>
            <a:pPr>
              <a:defRPr sz="1400" b="0">
                <a:solidFill>
                  <a:srgbClr val="FF8C00"/>
                </a:solidFill>
              </a:defRPr>
            </a:pPr>
            <a:r>
              <a:t>테스트 용도 권장</a:t>
            </a:r>
          </a:p>
          <a:p>
            <a:pPr>
              <a:defRPr sz="1400" b="0">
                <a:solidFill>
                  <a:srgbClr val="CCCCCC"/>
                </a:solidFill>
              </a:defRPr>
            </a:pPr>
            <a:r>
              <a:t>(실제 운용: 외부 트리거)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097280"/>
            <a:ext cx="3657600" cy="2286000"/>
          </a:xfrm>
          <a:prstGeom prst="roundRect">
            <a:avLst/>
          </a:prstGeom>
          <a:solidFill>
            <a:srgbClr val="2A2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0" y="1188720"/>
            <a:ext cx="31089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EC9B0"/>
                </a:solidFill>
              </a:defRPr>
            </a:pPr>
            <a:r>
              <a:t>[리셋]</a:t>
            </a:r>
          </a:p>
          <a:p>
            <a:pPr>
              <a:defRPr sz="1400" b="0">
                <a:solidFill>
                  <a:srgbClr val="DCDCAA"/>
                </a:solidFill>
              </a:defRPr>
            </a:pPr>
            <a:r>
              <a:t>:00TPS\r\n</a:t>
            </a:r>
          </a:p>
          <a:p>
            <a:pPr>
              <a:defRPr sz="1600" b="0">
                <a:solidFill>
                  <a:srgbClr val="CCCCCC"/>
                </a:solidFill>
              </a:defRPr>
            </a:pPr>
            <a:endParaRPr/>
          </a:p>
          <a:p>
            <a:pPr>
              <a:defRPr sz="1500" b="0">
                <a:solidFill>
                  <a:srgbClr val="FFFFFF"/>
                </a:solidFill>
              </a:defRPr>
            </a:pPr>
            <a:r>
              <a:t>순차 페이지를 첫번째</a:t>
            </a:r>
          </a:p>
          <a:p>
            <a:pPr>
              <a:defRPr sz="1500" b="0">
                <a:solidFill>
                  <a:srgbClr val="FFFFFF"/>
                </a:solidFill>
              </a:defRPr>
            </a:pPr>
            <a:r>
              <a:t>페이지로 되돌립니다.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1097280"/>
            <a:ext cx="3657600" cy="2286000"/>
          </a:xfrm>
          <a:prstGeom prst="roundRect">
            <a:avLst/>
          </a:prstGeom>
          <a:solidFill>
            <a:srgbClr val="2A2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80" y="1188720"/>
            <a:ext cx="31089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EC9B0"/>
                </a:solidFill>
              </a:defRPr>
            </a:pPr>
            <a:r>
              <a:t>[현재페이지]</a:t>
            </a:r>
          </a:p>
          <a:p>
            <a:pPr>
              <a:defRPr sz="1400" b="0">
                <a:solidFill>
                  <a:srgbClr val="DCDCAA"/>
                </a:solidFill>
              </a:defRPr>
            </a:pPr>
            <a:r>
              <a:t>:00G\r\n</a:t>
            </a:r>
          </a:p>
          <a:p>
            <a:pPr>
              <a:defRPr sz="1600" b="0">
                <a:solidFill>
                  <a:srgbClr val="CCCCCC"/>
                </a:solidFill>
              </a:defRPr>
            </a:pPr>
            <a:endParaRPr/>
          </a:p>
          <a:p>
            <a:pPr>
              <a:defRPr sz="1500" b="0">
                <a:solidFill>
                  <a:srgbClr val="FFFFFF"/>
                </a:solidFill>
              </a:defRPr>
            </a:pPr>
            <a:r>
              <a:t>현재 출력 중인 페이지</a:t>
            </a:r>
          </a:p>
          <a:p>
            <a:pPr>
              <a:defRPr sz="1500" b="0">
                <a:solidFill>
                  <a:srgbClr val="FFFFFF"/>
                </a:solidFill>
              </a:defRPr>
            </a:pPr>
            <a:r>
              <a:t>번호를 조회합니다.</a:t>
            </a:r>
          </a:p>
          <a:p>
            <a:pPr>
              <a:defRPr sz="1500" b="0">
                <a:solidFill>
                  <a:srgbClr val="FFFFFF"/>
                </a:solidFill>
              </a:defRPr>
            </a:pPr>
            <a:r>
              <a:t>응답이 로그에 표시됩니다.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657600"/>
            <a:ext cx="5486400" cy="2743200"/>
          </a:xfrm>
          <a:prstGeom prst="roundRect">
            <a:avLst/>
          </a:prstGeom>
          <a:solidFill>
            <a:srgbClr val="2A2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3749039"/>
            <a:ext cx="49377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EC9B0"/>
                </a:solidFill>
              </a:defRPr>
            </a:pPr>
            <a:r>
              <a:t>시작 페이지 / HOLD</a:t>
            </a:r>
          </a:p>
          <a:p>
            <a:pPr>
              <a:defRPr sz="1600" b="0">
                <a:solidFill>
                  <a:srgbClr val="CCCCCC"/>
                </a:solidFill>
              </a:defRPr>
            </a:pPr>
            <a:endParaRPr/>
          </a:p>
          <a:p>
            <a:pPr>
              <a:defRPr sz="1700" b="1">
                <a:solidFill>
                  <a:srgbClr val="569CD6"/>
                </a:solidFill>
              </a:defRPr>
            </a:pPr>
            <a:r>
              <a:t>시작 페이지 설정 (:00P[Page])</a:t>
            </a:r>
          </a:p>
          <a:p>
            <a:pPr>
              <a:defRPr sz="1500" b="0">
                <a:solidFill>
                  <a:srgbClr val="FFFFFF"/>
                </a:solidFill>
              </a:defRPr>
            </a:pPr>
            <a:r>
              <a:t>순차 페이지의 시작점을 지정합니다. (0~99)</a:t>
            </a:r>
          </a:p>
          <a:p>
            <a:pPr>
              <a:defRPr sz="1600" b="0">
                <a:solidFill>
                  <a:srgbClr val="CCCCCC"/>
                </a:solidFill>
              </a:defRPr>
            </a:pPr>
            <a:endParaRPr/>
          </a:p>
          <a:p>
            <a:pPr>
              <a:defRPr sz="1700" b="1">
                <a:solidFill>
                  <a:srgbClr val="569CD6"/>
                </a:solidFill>
              </a:defRPr>
            </a:pPr>
            <a:r>
              <a:t>HOLD 체크박스 (:00H[0/1])</a:t>
            </a:r>
          </a:p>
          <a:p>
            <a:pPr>
              <a:defRPr sz="1500" b="0">
                <a:solidFill>
                  <a:srgbClr val="FFFFFF"/>
                </a:solidFill>
              </a:defRPr>
            </a:pPr>
            <a:r>
              <a:t>ON: 지정된 페이지만 반복 출력</a:t>
            </a:r>
          </a:p>
          <a:p>
            <a:pPr>
              <a:defRPr sz="1500" b="0">
                <a:solidFill>
                  <a:srgbClr val="FFFFFF"/>
                </a:solidFill>
              </a:defRPr>
            </a:pPr>
            <a:r>
              <a:t>OFF: 일반 순차 동작으로 복귀</a:t>
            </a:r>
          </a:p>
          <a:p>
            <a:pPr>
              <a:defRPr sz="1600" b="0">
                <a:solidFill>
                  <a:srgbClr val="CCCCCC"/>
                </a:solidFill>
              </a:defRPr>
            </a:pPr>
            <a:endParaRPr/>
          </a:p>
          <a:p>
            <a:pPr>
              <a:defRPr sz="1500" b="0">
                <a:solidFill>
                  <a:srgbClr val="CCCCCC"/>
                </a:solidFill>
              </a:defRPr>
            </a:pPr>
            <a:r>
              <a:t>사용법: 시작페이지 설정 → HOLD ON</a:t>
            </a:r>
          </a:p>
          <a:p>
            <a:pPr>
              <a:defRPr sz="1500" b="0">
                <a:solidFill>
                  <a:srgbClr val="CCCCCC"/>
                </a:solidFill>
              </a:defRPr>
            </a:pPr>
            <a:r>
              <a:t>→ 트리거마다 같은 페이지 출력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657600"/>
            <a:ext cx="5486400" cy="2743200"/>
          </a:xfrm>
          <a:prstGeom prst="roundRect">
            <a:avLst/>
          </a:prstGeom>
          <a:solidFill>
            <a:srgbClr val="2A2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92240" y="3749039"/>
            <a:ext cx="49377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EC9B0"/>
                </a:solidFill>
              </a:defRPr>
            </a:pPr>
            <a:r>
              <a:t>Page Section</a:t>
            </a:r>
          </a:p>
          <a:p>
            <a:pPr>
              <a:defRPr sz="1600" b="0">
                <a:solidFill>
                  <a:srgbClr val="CCCCCC"/>
                </a:solidFill>
              </a:defRPr>
            </a:pPr>
            <a:endParaRPr/>
          </a:p>
          <a:p>
            <a:pPr>
              <a:defRPr sz="1600" b="0">
                <a:solidFill>
                  <a:srgbClr val="FFFFFF"/>
                </a:solidFill>
              </a:defRPr>
            </a:pPr>
            <a:r>
              <a:t>특정 범위의 페이지만 순차 출력하는 기능</a:t>
            </a:r>
          </a:p>
          <a:p>
            <a:pPr>
              <a:defRPr sz="1600" b="0">
                <a:solidFill>
                  <a:srgbClr val="CCCCCC"/>
                </a:solidFill>
              </a:defRPr>
            </a:pPr>
            <a:endParaRPr/>
          </a:p>
          <a:p>
            <a:pPr>
              <a:defRPr sz="1700" b="1">
                <a:solidFill>
                  <a:srgbClr val="569CD6"/>
                </a:solidFill>
              </a:defRPr>
            </a:pPr>
            <a:r>
              <a:t>설정 방법:</a:t>
            </a:r>
          </a:p>
          <a:p>
            <a:pPr>
              <a:defRPr sz="1500" b="0">
                <a:solidFill>
                  <a:srgbClr val="FFFFFF"/>
                </a:solidFill>
              </a:defRPr>
            </a:pPr>
            <a:r>
              <a:t>1. Section 체크박스 ON</a:t>
            </a:r>
          </a:p>
          <a:p>
            <a:pPr>
              <a:defRPr sz="1500" b="0">
                <a:solidFill>
                  <a:srgbClr val="FFFFFF"/>
                </a:solidFill>
              </a:defRPr>
            </a:pPr>
            <a:r>
              <a:t>2. 시작 페이지 / 끝 페이지 입력</a:t>
            </a:r>
          </a:p>
          <a:p>
            <a:pPr>
              <a:defRPr sz="1500" b="0">
                <a:solidFill>
                  <a:srgbClr val="FFFFFF"/>
                </a:solidFill>
              </a:defRPr>
            </a:pPr>
            <a:r>
              <a:t>3. [설정] 버튼 클릭</a:t>
            </a:r>
          </a:p>
          <a:p>
            <a:pPr>
              <a:defRPr sz="1600" b="0">
                <a:solidFill>
                  <a:srgbClr val="CCCCCC"/>
                </a:solidFill>
              </a:defRPr>
            </a:pPr>
            <a:endParaRPr/>
          </a:p>
          <a:p>
            <a:pPr>
              <a:defRPr sz="1500" b="0">
                <a:solidFill>
                  <a:srgbClr val="CCCCCC"/>
                </a:solidFill>
              </a:defRPr>
            </a:pPr>
            <a:r>
              <a:t>예) 시작=1, 끝=3 설정 시</a:t>
            </a:r>
          </a:p>
          <a:p>
            <a:pPr>
              <a:defRPr sz="1500" b="0">
                <a:solidFill>
                  <a:srgbClr val="4EC9B0"/>
                </a:solidFill>
              </a:defRPr>
            </a:pPr>
            <a:r>
              <a:t>트리거: Page1 → Page2 → Page3 → Page1 ...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EC9B0"/>
                </a:solidFill>
              </a:defRPr>
            </a:pPr>
            <a:r>
              <a:t>9. 트리거 Skip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11247120" cy="2286000"/>
          </a:xfrm>
          <a:prstGeom prst="roundRect">
            <a:avLst/>
          </a:prstGeom>
          <a:solidFill>
            <a:srgbClr val="2A2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EC9B0"/>
                </a:solidFill>
              </a:defRPr>
            </a:pPr>
            <a:r>
              <a:t>트리거 Skip 기능이란?</a:t>
            </a:r>
          </a:p>
          <a:p>
            <a:pPr>
              <a:defRPr sz="1600" b="0">
                <a:solidFill>
                  <a:srgbClr val="CCCCCC"/>
                </a:solidFill>
              </a:defRPr>
            </a:pPr>
            <a:endParaRPr/>
          </a:p>
          <a:p>
            <a:pPr>
              <a:defRPr sz="1800" b="0">
                <a:solidFill>
                  <a:srgbClr val="FFFFFF"/>
                </a:solidFill>
              </a:defRPr>
            </a:pPr>
            <a:r>
              <a:t>트리거 신호 수신 후 설정한 시간 동안 추가 트리거를 무시하는 기능입니다.</a:t>
            </a:r>
          </a:p>
          <a:p>
            <a:pPr>
              <a:defRPr sz="1800" b="0">
                <a:solidFill>
                  <a:srgbClr val="FFFFFF"/>
                </a:solidFill>
              </a:defRPr>
            </a:pPr>
            <a:r>
              <a:t>외부 노이즈에 의한 오동작을 방지할 수 있습니다. (0~999ms)</a:t>
            </a:r>
          </a:p>
          <a:p>
            <a:pPr>
              <a:defRPr sz="1600" b="0">
                <a:solidFill>
                  <a:srgbClr val="CCCCCC"/>
                </a:solidFill>
              </a:defRPr>
            </a:pPr>
            <a:endParaRPr/>
          </a:p>
          <a:p>
            <a:pPr>
              <a:defRPr sz="1700" b="0">
                <a:solidFill>
                  <a:srgbClr val="569CD6"/>
                </a:solidFill>
              </a:defRPr>
            </a:pPr>
            <a:r>
              <a:t>예) Skip Time = 30ms 설정 시:</a:t>
            </a:r>
          </a:p>
          <a:p>
            <a:pPr>
              <a:defRPr sz="1600" b="0">
                <a:solidFill>
                  <a:srgbClr val="CCCCCC"/>
                </a:solidFill>
              </a:defRPr>
            </a:pPr>
            <a:r>
              <a:t>   트리거 수신 → 출력 발생 → 30ms 동안 대기 → 대기 중 들어온 트리거는 무시 → 30ms 후 정상 수신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657600"/>
            <a:ext cx="11247120" cy="2286000"/>
          </a:xfrm>
          <a:prstGeom prst="roundRect">
            <a:avLst/>
          </a:prstGeom>
          <a:solidFill>
            <a:srgbClr val="2A2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3749039"/>
            <a:ext cx="106984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EC9B0"/>
                </a:solidFill>
              </a:defRPr>
            </a:pPr>
            <a:r>
              <a:t>사용 방법</a:t>
            </a:r>
          </a:p>
          <a:p>
            <a:pPr>
              <a:defRPr sz="1600" b="0">
                <a:solidFill>
                  <a:srgbClr val="CCCCCC"/>
                </a:solidFill>
              </a:defRPr>
            </a:pPr>
            <a:endParaRPr/>
          </a:p>
          <a:p>
            <a:pPr>
              <a:defRPr sz="1700" b="0">
                <a:solidFill>
                  <a:srgbClr val="FFFFFF"/>
                </a:solidFill>
              </a:defRPr>
            </a:pPr>
            <a:r>
              <a:t>1. Skip 체크박스를 ON으로 설정</a:t>
            </a:r>
          </a:p>
          <a:p>
            <a:pPr>
              <a:defRPr sz="1700" b="0">
                <a:solidFill>
                  <a:srgbClr val="FFFFFF"/>
                </a:solidFill>
              </a:defRPr>
            </a:pPr>
            <a:r>
              <a:t>2. Time 입력란에 Skip 시간 입력 (단위: ms, 범위: 0~999)</a:t>
            </a:r>
          </a:p>
          <a:p>
            <a:pPr>
              <a:defRPr sz="1700" b="0">
                <a:solidFill>
                  <a:srgbClr val="FFFFFF"/>
                </a:solidFill>
              </a:defRPr>
            </a:pPr>
            <a:r>
              <a:t>3. [설정] 버튼 클릭</a:t>
            </a:r>
          </a:p>
          <a:p>
            <a:pPr>
              <a:defRPr sz="1600" b="0">
                <a:solidFill>
                  <a:srgbClr val="CCCCCC"/>
                </a:solidFill>
              </a:defRPr>
            </a:pPr>
            <a:endParaRPr/>
          </a:p>
          <a:p>
            <a:pPr>
              <a:defRPr sz="1600" b="0">
                <a:solidFill>
                  <a:srgbClr val="DCDCAA"/>
                </a:solidFill>
              </a:defRPr>
            </a:pPr>
            <a:r>
              <a:t>프로토콜: :00IO[0/1]\r\n (ON/OFF)  +  :00IT[TIME]\r\n (시간 설정)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4EC9B0"/>
                </a:solidFill>
              </a:defRPr>
            </a:pPr>
            <a: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통신 로그 활용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4023360"/>
            <a:ext cx="2103120" cy="4572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EC9B0"/>
                </a:solidFill>
              </a:defRPr>
            </a:pPr>
            <a:r>
              <a:t>10. 통신 로그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11247120" cy="2743200"/>
          </a:xfrm>
          <a:prstGeom prst="roundRect">
            <a:avLst/>
          </a:prstGeom>
          <a:solidFill>
            <a:srgbClr val="2A2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EC9B0"/>
                </a:solidFill>
              </a:defRPr>
            </a:pPr>
            <a:r>
              <a:t>로그 형식</a:t>
            </a:r>
          </a:p>
          <a:p>
            <a:pPr>
              <a:defRPr sz="1600" b="0">
                <a:solidFill>
                  <a:srgbClr val="CCCCCC"/>
                </a:solidFill>
              </a:defRPr>
            </a:pPr>
            <a:endParaRPr/>
          </a:p>
          <a:p>
            <a:pPr>
              <a:defRPr sz="1800" b="1">
                <a:solidFill>
                  <a:srgbClr val="DCDCAA"/>
                </a:solidFill>
              </a:defRPr>
            </a:pPr>
            <a:r>
              <a:t>[시간] [구분] 내용</a:t>
            </a:r>
          </a:p>
          <a:p>
            <a:pPr>
              <a:defRPr sz="1600" b="0">
                <a:solidFill>
                  <a:srgbClr val="CCCCCC"/>
                </a:solidFill>
              </a:defRPr>
            </a:pPr>
            <a:endParaRPr/>
          </a:p>
          <a:p>
            <a:pPr>
              <a:defRPr sz="1400" b="0">
                <a:solidFill>
                  <a:srgbClr val="CCCCCC"/>
                </a:solidFill>
              </a:defRPr>
            </a:pPr>
            <a:r>
              <a:t>  [TX]                      프로그램 → 장비 전송 데이터    (파란색 계열)</a:t>
            </a:r>
          </a:p>
          <a:p>
            <a:pPr>
              <a:defRPr sz="1400" b="0">
                <a:solidFill>
                  <a:srgbClr val="CCCCCC"/>
                </a:solidFill>
              </a:defRPr>
            </a:pPr>
            <a:r>
              <a:t>  [RX] ACK (0x06)           장비 → 프로그램 정상 응답    (정상 수신 확인)</a:t>
            </a:r>
          </a:p>
          <a:p>
            <a:pPr>
              <a:defRPr sz="1400" b="0">
                <a:solidFill>
                  <a:srgbClr val="CCCCCC"/>
                </a:solidFill>
              </a:defRPr>
            </a:pPr>
            <a:r>
              <a:t>  [RX] NAK (0x15)           장비 → 프로그램 오류 응답    (명령어 형식 오류)</a:t>
            </a:r>
          </a:p>
          <a:p>
            <a:pPr>
              <a:defRPr sz="1400" b="0">
                <a:solidFill>
                  <a:srgbClr val="CCCCCC"/>
                </a:solidFill>
              </a:defRPr>
            </a:pPr>
            <a:r>
              <a:t>  [RX] 데이터                  장비에서 수신한 데이터 (조회 응답 등)</a:t>
            </a:r>
          </a:p>
          <a:p>
            <a:pPr>
              <a:defRPr sz="1400" b="0">
                <a:solidFill>
                  <a:srgbClr val="CCCCCC"/>
                </a:solidFill>
              </a:defRPr>
            </a:pPr>
            <a:r>
              <a:t>  [SYS]                     시스템 메시지 (연결/해제/자동찾기 등)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4114800"/>
            <a:ext cx="5486400" cy="2286000"/>
          </a:xfrm>
          <a:prstGeom prst="roundRect">
            <a:avLst/>
          </a:prstGeom>
          <a:solidFill>
            <a:srgbClr val="2A2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4206240"/>
            <a:ext cx="49377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EC9B0"/>
                </a:solidFill>
              </a:defRPr>
            </a:pPr>
            <a:r>
              <a:t>로그 활용 팁</a:t>
            </a:r>
          </a:p>
          <a:p>
            <a:pPr>
              <a:defRPr sz="1600" b="0">
                <a:solidFill>
                  <a:srgbClr val="CCCCCC"/>
                </a:solidFill>
              </a:defRPr>
            </a:pPr>
            <a:endParaRPr/>
          </a:p>
          <a:p>
            <a:pPr>
              <a:defRPr sz="1600" b="0">
                <a:solidFill>
                  <a:srgbClr val="FFFFFF"/>
                </a:solidFill>
              </a:defRPr>
            </a:pPr>
            <a:r>
              <a:t>• 전송 후 ACK가 오면 명령 정상 처리</a:t>
            </a:r>
          </a:p>
          <a:p>
            <a:pPr>
              <a:defRPr sz="1600" b="0">
                <a:solidFill>
                  <a:srgbClr val="FFFFFF"/>
                </a:solidFill>
              </a:defRPr>
            </a:pPr>
            <a:r>
              <a:t>• NAK가 오면 명령어 형식 확인 필요</a:t>
            </a:r>
          </a:p>
          <a:p>
            <a:pPr>
              <a:defRPr sz="1600" b="0">
                <a:solidFill>
                  <a:srgbClr val="FFFFFF"/>
                </a:solidFill>
              </a:defRPr>
            </a:pPr>
            <a:r>
              <a:t>• 응답 없음 → 케이블/전원/포트 확인</a:t>
            </a:r>
          </a:p>
          <a:p>
            <a:pPr>
              <a:defRPr sz="1600" b="0">
                <a:solidFill>
                  <a:srgbClr val="FFFFFF"/>
                </a:solidFill>
              </a:defRPr>
            </a:pPr>
            <a:r>
              <a:t>• [지우기] 버튼으로 로그 초기화 가능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4114800"/>
            <a:ext cx="5486400" cy="2286000"/>
          </a:xfrm>
          <a:prstGeom prst="roundRect">
            <a:avLst/>
          </a:prstGeom>
          <a:solidFill>
            <a:srgbClr val="2A2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92240" y="4206240"/>
            <a:ext cx="49377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EC9B0"/>
                </a:solidFill>
              </a:defRPr>
            </a:pPr>
            <a:r>
              <a:t>ACK / NAK 의미</a:t>
            </a:r>
          </a:p>
          <a:p>
            <a:pPr>
              <a:defRPr sz="1600" b="0">
                <a:solidFill>
                  <a:srgbClr val="CCCCCC"/>
                </a:solidFill>
              </a:defRPr>
            </a:pPr>
            <a:endParaRPr/>
          </a:p>
          <a:p>
            <a:pPr>
              <a:defRPr sz="1800" b="1">
                <a:solidFill>
                  <a:srgbClr val="4EC9B0"/>
                </a:solidFill>
              </a:defRPr>
            </a:pPr>
            <a:r>
              <a:t>ACK (0x06)</a:t>
            </a:r>
          </a:p>
          <a:p>
            <a:pPr>
              <a:defRPr sz="1500" b="0">
                <a:solidFill>
                  <a:srgbClr val="FFFFFF"/>
                </a:solidFill>
              </a:defRPr>
            </a:pPr>
            <a:r>
              <a:t>장비가 명령을 정상적으로 수신하고</a:t>
            </a:r>
          </a:p>
          <a:p>
            <a:pPr>
              <a:defRPr sz="1500" b="0">
                <a:solidFill>
                  <a:srgbClr val="FFFFFF"/>
                </a:solidFill>
              </a:defRPr>
            </a:pPr>
            <a:r>
              <a:t>처리했음을 의미합니다.</a:t>
            </a:r>
          </a:p>
          <a:p>
            <a:pPr>
              <a:defRPr sz="1600" b="0">
                <a:solidFill>
                  <a:srgbClr val="CCCCCC"/>
                </a:solidFill>
              </a:defRPr>
            </a:pPr>
            <a:endParaRPr/>
          </a:p>
          <a:p>
            <a:pPr>
              <a:defRPr sz="1800" b="1">
                <a:solidFill>
                  <a:srgbClr val="FF5555"/>
                </a:solidFill>
              </a:defRPr>
            </a:pPr>
            <a:r>
              <a:t>NAK (0x15)</a:t>
            </a:r>
          </a:p>
          <a:p>
            <a:pPr>
              <a:defRPr sz="1500" b="0">
                <a:solidFill>
                  <a:srgbClr val="FFFFFF"/>
                </a:solidFill>
              </a:defRPr>
            </a:pPr>
            <a:r>
              <a:t>비정상적인 프로토콜을 수신했음을</a:t>
            </a:r>
          </a:p>
          <a:p>
            <a:pPr>
              <a:defRPr sz="1500" b="0">
                <a:solidFill>
                  <a:srgbClr val="FFFFFF"/>
                </a:solidFill>
              </a:defRPr>
            </a:pPr>
            <a:r>
              <a:t>의미합니다. 명령어를 확인하세요.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4EC9B0"/>
                </a:solidFill>
              </a:defRPr>
            </a:pPr>
            <a: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주의사항 및 문제 해결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4023360"/>
            <a:ext cx="2103120" cy="4572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EC9B0"/>
                </a:solidFill>
              </a:defRPr>
            </a:pPr>
            <a:r>
              <a:t>11. 주의사항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11247120" cy="1188720"/>
          </a:xfrm>
          <a:prstGeom prst="roundRect">
            <a:avLst/>
          </a:prstGeom>
          <a:solidFill>
            <a:srgbClr val="2A2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5555"/>
                </a:solidFill>
              </a:defRPr>
            </a:pPr>
            <a:r>
              <a:t>패리티 설정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31920" y="1188720"/>
            <a:ext cx="74980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</a:defRPr>
            </a:pPr>
            <a:r>
              <a:t>반드시 Even으로 설정해야 합니다. (프로그램이 자동 설정)</a:t>
            </a:r>
          </a:p>
          <a:p>
            <a:pPr>
              <a:defRPr sz="1500" b="0">
                <a:solidFill>
                  <a:srgbClr val="CCCCCC"/>
                </a:solidFill>
              </a:defRPr>
            </a:pPr>
            <a:r>
              <a:t>다른 터미널 프로그램 사용 시 수동으로 Even 설정 필요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423160"/>
            <a:ext cx="11247120" cy="1188720"/>
          </a:xfrm>
          <a:prstGeom prst="roundRect">
            <a:avLst/>
          </a:prstGeom>
          <a:solidFill>
            <a:srgbClr val="2A2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2514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8C00"/>
                </a:solidFill>
              </a:defRPr>
            </a:pPr>
            <a:r>
              <a:t>배수 설정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2514600"/>
            <a:ext cx="74980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</a:defRPr>
            </a:pPr>
            <a:r>
              <a:t>무리한 배수 증가(×5) 시 조명이 파손될 수 있습니다.</a:t>
            </a:r>
          </a:p>
          <a:p>
            <a:pPr>
              <a:defRPr sz="1500" b="0">
                <a:solidFill>
                  <a:srgbClr val="CCCCCC"/>
                </a:solidFill>
              </a:defRPr>
            </a:pPr>
            <a:r>
              <a:t>조명 사양을 확인 후 적절한 범위에서 사용하세요.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749039"/>
            <a:ext cx="11247120" cy="1188720"/>
          </a:xfrm>
          <a:prstGeom prst="roundRect">
            <a:avLst/>
          </a:prstGeom>
          <a:solidFill>
            <a:srgbClr val="2A2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384047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8C00"/>
                </a:solidFill>
              </a:defRPr>
            </a:pPr>
            <a:r>
              <a:t>데이터 저장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3840479"/>
            <a:ext cx="74980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</a:defRPr>
            </a:pPr>
            <a:r>
              <a:t>:00S 명령으로 저장하지 않으면 전원 OFF 시 설정 소실!</a:t>
            </a:r>
          </a:p>
          <a:p>
            <a:pPr>
              <a:defRPr sz="1500" b="0">
                <a:solidFill>
                  <a:srgbClr val="CCCCCC"/>
                </a:solidFill>
              </a:defRPr>
            </a:pPr>
            <a:r>
              <a:t>중요한 설정 변경 후 반드시 [데이터 저장] 실행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5074920"/>
            <a:ext cx="11247120" cy="1188720"/>
          </a:xfrm>
          <a:prstGeom prst="roundRect">
            <a:avLst/>
          </a:prstGeom>
          <a:solidFill>
            <a:srgbClr val="2A2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516635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D700"/>
                </a:solidFill>
              </a:defRPr>
            </a:pPr>
            <a:r>
              <a:t>순차 트리거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5166359"/>
            <a:ext cx="74980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</a:defRPr>
            </a:pPr>
            <a:r>
              <a:t>통신을 통한 트리거(:00TPP)는 테스트 용도로만 사용.</a:t>
            </a:r>
          </a:p>
          <a:p>
            <a:pPr>
              <a:defRPr sz="1500" b="0">
                <a:solidFill>
                  <a:srgbClr val="CCCCCC"/>
                </a:solidFill>
              </a:defRPr>
            </a:pPr>
            <a:r>
              <a:t>실제 운용 시에는 외부 트리거 신호를 사용하세요.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EC9B0"/>
                </a:solidFill>
              </a:defRPr>
            </a:pPr>
            <a:r>
              <a:t>11. 문제 해결 가이드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11247120" cy="1234440"/>
          </a:xfrm>
          <a:prstGeom prst="roundRect">
            <a:avLst/>
          </a:prstGeom>
          <a:solidFill>
            <a:srgbClr val="2A2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5555"/>
                </a:solidFill>
              </a:defRPr>
            </a:pPr>
            <a:r>
              <a:t>통신이 안 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31920" y="1143000"/>
            <a:ext cx="74980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endParaRPr/>
          </a:p>
          <a:p>
            <a:pPr>
              <a:defRPr sz="1400" b="0">
                <a:solidFill>
                  <a:srgbClr val="CCCCCC"/>
                </a:solidFill>
              </a:defRPr>
            </a:pPr>
            <a:r>
              <a:t>1. RS232 케이블 연결 확인</a:t>
            </a:r>
          </a:p>
          <a:p>
            <a:pPr>
              <a:defRPr sz="1400" b="0">
                <a:solidFill>
                  <a:srgbClr val="CCCCCC"/>
                </a:solidFill>
              </a:defRPr>
            </a:pPr>
            <a:r>
              <a:t>2. 장비 전원 ON 확인</a:t>
            </a:r>
          </a:p>
          <a:p>
            <a:pPr>
              <a:defRPr sz="1400" b="0">
                <a:solidFill>
                  <a:srgbClr val="CCCCCC"/>
                </a:solidFill>
              </a:defRPr>
            </a:pPr>
            <a:r>
              <a:t>3. COM 포트 번호 확인 (장치관리자)</a:t>
            </a:r>
          </a:p>
          <a:p>
            <a:pPr>
              <a:defRPr sz="1400" b="0">
                <a:solidFill>
                  <a:srgbClr val="CCCCCC"/>
                </a:solidFill>
              </a:defRPr>
            </a:pPr>
            <a:r>
              <a:t>4. 패리티 설정 Even 확인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468880"/>
            <a:ext cx="11247120" cy="1234440"/>
          </a:xfrm>
          <a:prstGeom prst="roundRect">
            <a:avLst/>
          </a:prstGeom>
          <a:solidFill>
            <a:srgbClr val="2A2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25146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5555"/>
                </a:solidFill>
              </a:defRPr>
            </a:pPr>
            <a:r>
              <a:t>ACK 대신 NAK 수신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2514600"/>
            <a:ext cx="74980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endParaRPr/>
          </a:p>
          <a:p>
            <a:pPr>
              <a:defRPr sz="1400" b="0">
                <a:solidFill>
                  <a:srgbClr val="CCCCCC"/>
                </a:solidFill>
              </a:defRPr>
            </a:pPr>
            <a:r>
              <a:t>1. 명령어 형식이 올바른지 확인</a:t>
            </a:r>
          </a:p>
          <a:p>
            <a:pPr>
              <a:defRPr sz="1400" b="0">
                <a:solidFill>
                  <a:srgbClr val="CCCCCC"/>
                </a:solidFill>
              </a:defRPr>
            </a:pPr>
            <a:r>
              <a:t>2. 값 범위 확인 (ON TIME: 0~999, Page: 0~98)</a:t>
            </a:r>
          </a:p>
          <a:p>
            <a:pPr>
              <a:defRPr sz="1400" b="0">
                <a:solidFill>
                  <a:srgbClr val="CCCCCC"/>
                </a:solidFill>
              </a:defRPr>
            </a:pPr>
            <a:r>
              <a:t>3. 모드 확인 (DS-16/LS-12)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840480"/>
            <a:ext cx="11247120" cy="1234440"/>
          </a:xfrm>
          <a:prstGeom prst="roundRect">
            <a:avLst/>
          </a:prstGeom>
          <a:solidFill>
            <a:srgbClr val="2A2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38862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5555"/>
                </a:solidFill>
              </a:defRPr>
            </a:pPr>
            <a:r>
              <a:t>포트를 열 수 없음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3886200"/>
            <a:ext cx="74980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endParaRPr/>
          </a:p>
          <a:p>
            <a:pPr>
              <a:defRPr sz="1400" b="0">
                <a:solidFill>
                  <a:srgbClr val="CCCCCC"/>
                </a:solidFill>
              </a:defRPr>
            </a:pPr>
            <a:r>
              <a:t>1. 다른 프로그램(터미널 등)이 포트를 점유 중인지 확인</a:t>
            </a:r>
          </a:p>
          <a:p>
            <a:pPr>
              <a:defRPr sz="1400" b="0">
                <a:solidFill>
                  <a:srgbClr val="CCCCCC"/>
                </a:solidFill>
              </a:defRPr>
            </a:pPr>
            <a:r>
              <a:t>2. USB-Serial 드라이버 설치 확인</a:t>
            </a:r>
          </a:p>
          <a:p>
            <a:pPr>
              <a:defRPr sz="1400" b="0">
                <a:solidFill>
                  <a:srgbClr val="CCCCCC"/>
                </a:solidFill>
              </a:defRPr>
            </a:pPr>
            <a:r>
              <a:t>3. [검색] 버튼으로 포트 목록 갱신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5212080"/>
            <a:ext cx="11247120" cy="1234440"/>
          </a:xfrm>
          <a:prstGeom prst="roundRect">
            <a:avLst/>
          </a:prstGeom>
          <a:solidFill>
            <a:srgbClr val="2A2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52578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5555"/>
                </a:solidFill>
              </a:defRPr>
            </a:pPr>
            <a:r>
              <a:t>자동찾기 실패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5257800"/>
            <a:ext cx="74980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endParaRPr/>
          </a:p>
          <a:p>
            <a:pPr>
              <a:defRPr sz="1400" b="0">
                <a:solidFill>
                  <a:srgbClr val="CCCCCC"/>
                </a:solidFill>
              </a:defRPr>
            </a:pPr>
            <a:r>
              <a:t>1. 장비 전원 ON 및 케이블 연결 확인</a:t>
            </a:r>
          </a:p>
          <a:p>
            <a:pPr>
              <a:defRPr sz="1400" b="0">
                <a:solidFill>
                  <a:srgbClr val="CCCCCC"/>
                </a:solidFill>
              </a:defRPr>
            </a:pPr>
            <a:r>
              <a:t>2. 다른 프로그램이 포트를 사용 중이면 종료</a:t>
            </a:r>
          </a:p>
          <a:p>
            <a:pPr>
              <a:defRPr sz="1400" b="0">
                <a:solidFill>
                  <a:srgbClr val="CCCCCC"/>
                </a:solidFill>
              </a:defRPr>
            </a:pPr>
            <a:r>
              <a:t>3. 수동으로 포트를 선택하여 연결 시도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926080"/>
            <a:ext cx="12191695" cy="54864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감사합니다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CCCCCC"/>
                </a:solidFill>
              </a:defRPr>
            </a:pPr>
            <a:r>
              <a:t>IMS-DS-16 조명 컨트롤러 사용 설명서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CCCCC"/>
                </a:solidFill>
              </a:defRPr>
            </a:pPr>
            <a:r>
              <a:t>장비: 주식회사 LVS  IMS-DS-16  |  프로그램: LightController v1.0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2388</Words>
  <Application>Microsoft Office PowerPoint</Application>
  <PresentationFormat>와이드스크린</PresentationFormat>
  <Paragraphs>402</Paragraphs>
  <Slides>27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오세영</cp:lastModifiedBy>
  <cp:revision>2</cp:revision>
  <dcterms:created xsi:type="dcterms:W3CDTF">2013-01-27T09:14:16Z</dcterms:created>
  <dcterms:modified xsi:type="dcterms:W3CDTF">2026-03-31T12:51:48Z</dcterms:modified>
  <cp:category/>
</cp:coreProperties>
</file>